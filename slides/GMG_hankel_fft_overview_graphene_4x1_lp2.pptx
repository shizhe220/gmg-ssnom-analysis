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ptos"/>
              </a:rPr>
              <a:t>Hankel Fit + FFT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Aptos"/>
              </a:rPr>
              <a:t>graphene_4x1_manual lp2 (interior), wn = 860-1000 cm⁻¹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 i="1">
                <a:solidFill>
                  <a:srgbClr val="CADCFC"/>
                </a:solidFill>
                <a:latin typeface="Aptos"/>
              </a:rPr>
              <a:t>860-890 cm⁻¹: single-wave Hankel vs. 1/√x real-space comparison. 900-1000 cm⁻¹: single-wave vs. two-wave (edge-launched q + tip-launched 2q) Hankel fit, both against the FFT's own 2-Lorentzian-peak decomposition.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ptos"/>
              </a:rPr>
              <a:t>860cm⁻¹</a:t>
            </a:r>
          </a:p>
        </p:txBody>
      </p:sp>
      <p:pic>
        <p:nvPicPr>
          <p:cNvPr id="3" name="Picture 2" descr="860cm-1_single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179" y="137160"/>
            <a:ext cx="4584136" cy="3566160"/>
          </a:xfrm>
          <a:prstGeom prst="rect">
            <a:avLst/>
          </a:prstGeom>
        </p:spPr>
      </p:pic>
      <p:pic>
        <p:nvPicPr>
          <p:cNvPr id="4" name="Picture 3" descr="860cm-1_f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926" y="3840480"/>
            <a:ext cx="11369842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ptos"/>
              </a:rPr>
              <a:t>870cm⁻¹</a:t>
            </a:r>
          </a:p>
        </p:txBody>
      </p:sp>
      <p:pic>
        <p:nvPicPr>
          <p:cNvPr id="3" name="Picture 2" descr="870cm-1_single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357" y="137160"/>
            <a:ext cx="4525781" cy="3566160"/>
          </a:xfrm>
          <a:prstGeom prst="rect">
            <a:avLst/>
          </a:prstGeom>
        </p:spPr>
      </p:pic>
      <p:pic>
        <p:nvPicPr>
          <p:cNvPr id="4" name="Picture 3" descr="870cm-1_f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926" y="3840480"/>
            <a:ext cx="11369842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ptos"/>
              </a:rPr>
              <a:t>880cm⁻¹</a:t>
            </a:r>
          </a:p>
        </p:txBody>
      </p:sp>
      <p:pic>
        <p:nvPicPr>
          <p:cNvPr id="3" name="Picture 2" descr="880cm-1_single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357" y="137160"/>
            <a:ext cx="4525781" cy="3566160"/>
          </a:xfrm>
          <a:prstGeom prst="rect">
            <a:avLst/>
          </a:prstGeom>
        </p:spPr>
      </p:pic>
      <p:pic>
        <p:nvPicPr>
          <p:cNvPr id="4" name="Picture 3" descr="880cm-1_f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926" y="3840480"/>
            <a:ext cx="11369842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ptos"/>
              </a:rPr>
              <a:t>890cm⁻¹</a:t>
            </a:r>
          </a:p>
        </p:txBody>
      </p:sp>
      <p:pic>
        <p:nvPicPr>
          <p:cNvPr id="3" name="Picture 2" descr="890cm-1_single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695" y="137160"/>
            <a:ext cx="4597104" cy="3566160"/>
          </a:xfrm>
          <a:prstGeom prst="rect">
            <a:avLst/>
          </a:prstGeom>
        </p:spPr>
      </p:pic>
      <p:pic>
        <p:nvPicPr>
          <p:cNvPr id="4" name="Picture 3" descr="890cm-1_f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926" y="3840480"/>
            <a:ext cx="11369842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ptos"/>
              </a:rPr>
              <a:t>900cm⁻¹</a:t>
            </a:r>
          </a:p>
        </p:txBody>
      </p:sp>
      <p:pic>
        <p:nvPicPr>
          <p:cNvPr id="3" name="Picture 2" descr="900cm-1_hankel2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137160"/>
            <a:ext cx="4754880" cy="3566160"/>
          </a:xfrm>
          <a:prstGeom prst="rect">
            <a:avLst/>
          </a:prstGeom>
        </p:spPr>
      </p:pic>
      <p:pic>
        <p:nvPicPr>
          <p:cNvPr id="4" name="Picture 3" descr="900cm-1_f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926" y="3840480"/>
            <a:ext cx="11369842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ptos"/>
              </a:rPr>
              <a:t>911cm⁻¹</a:t>
            </a:r>
          </a:p>
        </p:txBody>
      </p:sp>
      <p:pic>
        <p:nvPicPr>
          <p:cNvPr id="3" name="Picture 2" descr="911cm-1_hankel2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137160"/>
            <a:ext cx="4754880" cy="3566160"/>
          </a:xfrm>
          <a:prstGeom prst="rect">
            <a:avLst/>
          </a:prstGeom>
        </p:spPr>
      </p:pic>
      <p:pic>
        <p:nvPicPr>
          <p:cNvPr id="4" name="Picture 3" descr="911cm-1_f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926" y="3840480"/>
            <a:ext cx="11369842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ptos"/>
              </a:rPr>
              <a:t>920cm⁻¹</a:t>
            </a:r>
          </a:p>
        </p:txBody>
      </p:sp>
      <p:pic>
        <p:nvPicPr>
          <p:cNvPr id="3" name="Picture 2" descr="920cm-1_hankel2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137160"/>
            <a:ext cx="4754880" cy="3566160"/>
          </a:xfrm>
          <a:prstGeom prst="rect">
            <a:avLst/>
          </a:prstGeom>
        </p:spPr>
      </p:pic>
      <p:pic>
        <p:nvPicPr>
          <p:cNvPr id="4" name="Picture 3" descr="920cm-1_f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926" y="3840480"/>
            <a:ext cx="11369842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ptos"/>
              </a:rPr>
              <a:t>930cm⁻¹</a:t>
            </a:r>
          </a:p>
        </p:txBody>
      </p:sp>
      <p:pic>
        <p:nvPicPr>
          <p:cNvPr id="3" name="Picture 2" descr="930cm-1_hankel2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137160"/>
            <a:ext cx="4754880" cy="3566160"/>
          </a:xfrm>
          <a:prstGeom prst="rect">
            <a:avLst/>
          </a:prstGeom>
        </p:spPr>
      </p:pic>
      <p:pic>
        <p:nvPicPr>
          <p:cNvPr id="4" name="Picture 3" descr="930cm-1_f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926" y="3840480"/>
            <a:ext cx="11369842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ptos"/>
              </a:rPr>
              <a:t>941cm⁻¹</a:t>
            </a:r>
          </a:p>
        </p:txBody>
      </p:sp>
      <p:pic>
        <p:nvPicPr>
          <p:cNvPr id="3" name="Picture 2" descr="941cm-1_hankel2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137160"/>
            <a:ext cx="4754880" cy="3566160"/>
          </a:xfrm>
          <a:prstGeom prst="rect">
            <a:avLst/>
          </a:prstGeom>
        </p:spPr>
      </p:pic>
      <p:pic>
        <p:nvPicPr>
          <p:cNvPr id="4" name="Picture 3" descr="941cm-1_f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926" y="3840480"/>
            <a:ext cx="11369842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ptos"/>
              </a:rPr>
              <a:t>950cm⁻¹</a:t>
            </a:r>
          </a:p>
        </p:txBody>
      </p:sp>
      <p:pic>
        <p:nvPicPr>
          <p:cNvPr id="3" name="Picture 2" descr="950cm-1_hankel2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137160"/>
            <a:ext cx="4754880" cy="3566160"/>
          </a:xfrm>
          <a:prstGeom prst="rect">
            <a:avLst/>
          </a:prstGeom>
        </p:spPr>
      </p:pic>
      <p:pic>
        <p:nvPicPr>
          <p:cNvPr id="4" name="Picture 3" descr="950cm-1_f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926" y="3840480"/>
            <a:ext cx="11369842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ptos"/>
              </a:rPr>
              <a:t>960cm⁻¹</a:t>
            </a:r>
          </a:p>
        </p:txBody>
      </p:sp>
      <p:pic>
        <p:nvPicPr>
          <p:cNvPr id="3" name="Picture 2" descr="960cm-1_hankel2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137160"/>
            <a:ext cx="4754880" cy="3566160"/>
          </a:xfrm>
          <a:prstGeom prst="rect">
            <a:avLst/>
          </a:prstGeom>
        </p:spPr>
      </p:pic>
      <p:pic>
        <p:nvPicPr>
          <p:cNvPr id="4" name="Picture 3" descr="960cm-1_f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926" y="3840480"/>
            <a:ext cx="11369842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ptos"/>
              </a:rPr>
              <a:t>970cm⁻¹</a:t>
            </a:r>
          </a:p>
        </p:txBody>
      </p:sp>
      <p:pic>
        <p:nvPicPr>
          <p:cNvPr id="3" name="Picture 2" descr="970cm-1_hankel2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137160"/>
            <a:ext cx="4754880" cy="3566160"/>
          </a:xfrm>
          <a:prstGeom prst="rect">
            <a:avLst/>
          </a:prstGeom>
        </p:spPr>
      </p:pic>
      <p:pic>
        <p:nvPicPr>
          <p:cNvPr id="4" name="Picture 3" descr="970cm-1_f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926" y="3840480"/>
            <a:ext cx="11369842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ptos"/>
              </a:rPr>
              <a:t>980cm⁻¹</a:t>
            </a:r>
          </a:p>
        </p:txBody>
      </p:sp>
      <p:pic>
        <p:nvPicPr>
          <p:cNvPr id="3" name="Picture 2" descr="980cm-1_hankel2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137160"/>
            <a:ext cx="4754880" cy="3566160"/>
          </a:xfrm>
          <a:prstGeom prst="rect">
            <a:avLst/>
          </a:prstGeom>
        </p:spPr>
      </p:pic>
      <p:pic>
        <p:nvPicPr>
          <p:cNvPr id="4" name="Picture 3" descr="980cm-1_f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926" y="3840480"/>
            <a:ext cx="11369842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ptos"/>
              </a:rPr>
              <a:t>991cm⁻¹</a:t>
            </a:r>
          </a:p>
        </p:txBody>
      </p:sp>
      <p:pic>
        <p:nvPicPr>
          <p:cNvPr id="3" name="Picture 2" descr="991cm-1_hankel2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137160"/>
            <a:ext cx="4754880" cy="3566160"/>
          </a:xfrm>
          <a:prstGeom prst="rect">
            <a:avLst/>
          </a:prstGeom>
        </p:spPr>
      </p:pic>
      <p:pic>
        <p:nvPicPr>
          <p:cNvPr id="4" name="Picture 3" descr="991cm-1_f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926" y="3840480"/>
            <a:ext cx="11369842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7432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ptos"/>
              </a:rPr>
              <a:t>1000cm⁻¹</a:t>
            </a:r>
          </a:p>
        </p:txBody>
      </p:sp>
      <p:pic>
        <p:nvPicPr>
          <p:cNvPr id="3" name="Picture 2" descr="1000cm-1_hankel2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137160"/>
            <a:ext cx="4754880" cy="3566160"/>
          </a:xfrm>
          <a:prstGeom prst="rect">
            <a:avLst/>
          </a:prstGeom>
        </p:spPr>
      </p:pic>
      <p:pic>
        <p:nvPicPr>
          <p:cNvPr id="4" name="Picture 3" descr="1000cm-1_f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926" y="3840480"/>
            <a:ext cx="11369842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