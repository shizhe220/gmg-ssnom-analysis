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6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5F4D"/>
    <a:srgbClr val="7429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07"/>
    <p:restoredTop sz="94663"/>
  </p:normalViewPr>
  <p:slideViewPr>
    <p:cSldViewPr snapToGrid="0">
      <p:cViewPr>
        <p:scale>
          <a:sx n="86" d="100"/>
          <a:sy n="86" d="100"/>
        </p:scale>
        <p:origin x="360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A3DBF-B44E-5045-80FF-D655BA61E541}" type="datetimeFigureOut">
              <a:rPr lang="en-US" smtClean="0"/>
              <a:t>7/21/26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C2376-E26D-E243-A625-8B549B4B9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032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C2376-E26D-E243-A625-8B549B4B939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5516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C2376-E26D-E243-A625-8B549B4B939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573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EFBAD-F1F0-26BF-AC88-859EE80E4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F02D37-AFBB-BA26-57A6-08AEFD01C2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016E3-4CDB-07F4-7F4D-F88C1A812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C5A1-582F-9642-81A1-F8C87F133F7E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EBA62-B185-9F7B-97A2-5E99FCB56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99334-4134-A636-9985-6E9292DA8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E5AAE-27C2-BD4B-B4D3-B4AC094FA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39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7E0D2-7480-FE7A-E3A7-BF29A832B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5B687-D61B-F231-0D1F-68CC3D3BC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435D6-5DE8-05F3-E07F-CD7BC63E4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C5A1-582F-9642-81A1-F8C87F133F7E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569E4-93BF-423A-3C1C-92536CB91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9C7D1-5C94-2E33-B507-9EFB2E32E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E5AAE-27C2-BD4B-B4D3-B4AC094FA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583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A8F05-860E-8BF6-10C2-E9D025A2E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E32DE7-77C6-1E42-074E-564F0823ED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6C541-7CF1-4C6A-84F3-D1524909E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C5A1-582F-9642-81A1-F8C87F133F7E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8FDD1-900C-B63A-47D5-AC7C602D2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ABA22-8EB7-8663-4652-2E098D37F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E5AAE-27C2-BD4B-B4D3-B4AC094FA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93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E7828-D464-234A-FE5B-06994AA3B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6764D-F8FA-60D9-260B-DA22E6F53D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E4A518-B4F8-FE2C-B1BD-87341ACEFD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4F386-F37B-D672-AB21-5AA77DDA3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C5A1-582F-9642-81A1-F8C87F133F7E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D273F2-B34B-66BE-A4EF-89E01FCA7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BC582C-F36E-7D17-9AF5-320708B84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E5AAE-27C2-BD4B-B4D3-B4AC094FA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262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3EBD7-375A-D8FE-AC68-8F8B512F7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DE28C9-95B3-CF36-1A23-F151903BB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793825-50AB-6706-23F7-4A0C2C48CB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B51D16-1352-B5A0-0587-02B1591DE6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A6FDCF-C537-C904-D36C-7702D9306D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C208AE-A989-1047-0234-5233B2B4F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C5A1-582F-9642-81A1-F8C87F133F7E}" type="datetimeFigureOut">
              <a:rPr lang="en-US" smtClean="0"/>
              <a:t>7/21/26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7F4FBD-6DD3-6FAC-615A-F55EA293F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4CE486-B95D-8505-F193-3804263CD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E5AAE-27C2-BD4B-B4D3-B4AC094FA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41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5AD02-7A92-2D37-FE03-9CF2B8E09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241213-8408-F46E-029B-0CFD22681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C5A1-582F-9642-81A1-F8C87F133F7E}" type="datetimeFigureOut">
              <a:rPr lang="en-US" smtClean="0"/>
              <a:t>7/21/26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CF2159-A1C0-4031-EFD5-6FD51F068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690497-9883-3E9F-E2FC-EFB3E9918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E5AAE-27C2-BD4B-B4D3-B4AC094FA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535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7DA617-E593-7792-7CF3-613A9D701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C5A1-582F-9642-81A1-F8C87F133F7E}" type="datetimeFigureOut">
              <a:rPr lang="en-US" smtClean="0"/>
              <a:t>7/21/26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42539F-D47F-F7AA-D1AE-3F98F3212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6DEBB-8D34-DA29-0916-AC315E966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E5AAE-27C2-BD4B-B4D3-B4AC094FA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874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38323-9593-76DB-C267-C89C36083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7C6FE-48E1-D845-EF9B-2613FC884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73048-0975-D818-EA18-8445D39A45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585A63-C4A7-AB63-65E8-5D4EC65F1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C5A1-582F-9642-81A1-F8C87F133F7E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6FD415-35D8-8842-F8F4-323158FEF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F1D551-2012-83F5-CD56-A00E87F60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E5AAE-27C2-BD4B-B4D3-B4AC094FA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932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02130-649E-E153-B573-7B8DF2A94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6062FD-15D6-F393-2054-68EB66B5B2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941884-61F8-317D-B5BC-619C3D9069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92C42D-EF85-9B44-BAF1-9DF22948E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C5A1-582F-9642-81A1-F8C87F133F7E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51FC95-3AFC-899A-E8A3-D966F09C4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ED5FF9-72D7-65D0-247C-D7E286AC9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E5AAE-27C2-BD4B-B4D3-B4AC094FA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012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E57CB-2E06-ED7C-F5A9-CBC156B04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4C6649-B986-EB94-3143-8E337F13B0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16759-6740-C4EC-E131-1598E85D8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C5A1-582F-9642-81A1-F8C87F133F7E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B41A6-F917-B992-9227-B153E8EF4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7AF8F-6914-09CC-CD8F-EEC8600E7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E5AAE-27C2-BD4B-B4D3-B4AC094FA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467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411E84-B758-B126-1478-81C53BB8D9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2F0A0A-367C-77EA-231B-82041BA803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F4CCA-4358-F55A-AADC-6A65F744C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C5A1-582F-9642-81A1-F8C87F133F7E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16020-3AA5-9E32-897B-E24F05631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865FF-A842-9458-6BE1-B631529DD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E5AAE-27C2-BD4B-B4D3-B4AC094FA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757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1E7ADF-52B1-656C-6EDF-3793BC5B1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C36978-83B0-9216-8C2D-A145AABEE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A1EDC-EC4E-C439-0E7D-7A09FB719E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A3C5A1-582F-9642-81A1-F8C87F133F7E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6CFF80-6797-1A2E-A276-08CAA0114C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B5E74-8422-070E-E309-80B477C51B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E5AAE-27C2-BD4B-B4D3-B4AC094FA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814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26FF2-C189-3723-E259-93B5BCE290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GMG </a:t>
            </a:r>
            <a:r>
              <a:rPr lang="en-US" dirty="0" err="1"/>
              <a:t>rp</a:t>
            </a:r>
            <a:r>
              <a:rPr lang="zh-CN" altLang="en-US" dirty="0"/>
              <a:t> </a:t>
            </a:r>
            <a:r>
              <a:rPr lang="en-US" altLang="zh-CN" dirty="0"/>
              <a:t>&amp;</a:t>
            </a:r>
            <a:r>
              <a:rPr lang="zh-CN" altLang="en-US" dirty="0"/>
              <a:t> </a:t>
            </a:r>
            <a:r>
              <a:rPr lang="en-US" altLang="zh-CN" dirty="0"/>
              <a:t>fitting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C371B5-9BDF-276F-3035-68016992BCB3}"/>
              </a:ext>
            </a:extLst>
          </p:cNvPr>
          <p:cNvSpPr txBox="1"/>
          <p:nvPr/>
        </p:nvSpPr>
        <p:spPr>
          <a:xfrm>
            <a:off x="569624" y="4557009"/>
            <a:ext cx="55263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Lower </a:t>
            </a:r>
            <a:r>
              <a:rPr lang="en-US" sz="2400" dirty="0" err="1"/>
              <a:t>wn</a:t>
            </a:r>
            <a:r>
              <a:rPr lang="en-US" sz="2400" dirty="0"/>
              <a:t> fitting and FFT (page2)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2-waves fitting for higher </a:t>
            </a:r>
            <a:r>
              <a:rPr lang="en-US" sz="2400" dirty="0" err="1"/>
              <a:t>wns</a:t>
            </a:r>
            <a:r>
              <a:rPr lang="en-US" sz="2400" dirty="0"/>
              <a:t> (page 9)</a:t>
            </a:r>
          </a:p>
        </p:txBody>
      </p:sp>
    </p:spTree>
    <p:extLst>
      <p:ext uri="{BB962C8B-B14F-4D97-AF65-F5344CB8AC3E}">
        <p14:creationId xmlns:p14="http://schemas.microsoft.com/office/powerpoint/2010/main" val="1756186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1AA68-B30E-98A5-3413-D85BA09E2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0341"/>
            <a:ext cx="10515600" cy="777875"/>
          </a:xfrm>
        </p:spPr>
        <p:txBody>
          <a:bodyPr/>
          <a:lstStyle/>
          <a:p>
            <a:r>
              <a:rPr lang="en-US" dirty="0"/>
              <a:t>Lower </a:t>
            </a:r>
            <a:r>
              <a:rPr lang="en-US" dirty="0" err="1"/>
              <a:t>wn</a:t>
            </a:r>
            <a:r>
              <a:rPr lang="en-US" dirty="0"/>
              <a:t> fitting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24C447-6202-9E23-397F-CDDF218F0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78" y="737534"/>
            <a:ext cx="3411071" cy="29098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82FDFC-F7B0-8458-5473-533559A05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3181" y="737534"/>
            <a:ext cx="3411071" cy="29098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2B1320-A34C-8116-70E0-EA1FE11E74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677" y="3715189"/>
            <a:ext cx="3411072" cy="29098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CD796E1-0AED-651F-E4A7-AF61D7E147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8326" y="3627812"/>
            <a:ext cx="3615926" cy="30846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A41E642-B4B0-ECA9-B61A-2883102D59A0}"/>
              </a:ext>
            </a:extLst>
          </p:cNvPr>
          <p:cNvSpPr txBox="1"/>
          <p:nvPr/>
        </p:nvSpPr>
        <p:spPr>
          <a:xfrm>
            <a:off x="2326341" y="5605062"/>
            <a:ext cx="10488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Looks better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61C76F9-747B-B8F7-6CC8-FB8EAF529ED4}"/>
                  </a:ext>
                </a:extLst>
              </p:cNvPr>
              <p:cNvSpPr txBox="1"/>
              <p:nvPr/>
            </p:nvSpPr>
            <p:spPr>
              <a:xfrm>
                <a:off x="8513028" y="645786"/>
                <a:ext cx="322729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Green square: q from real space interval (of peak3 and peak 2),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𝜋</m:t>
                    </m:r>
                    <m:r>
                      <m:rPr>
                        <m:lit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61C76F9-747B-B8F7-6CC8-FB8EAF529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3028" y="645786"/>
                <a:ext cx="3227294" cy="923330"/>
              </a:xfrm>
              <a:prstGeom prst="rect">
                <a:avLst/>
              </a:prstGeom>
              <a:blipFill>
                <a:blip r:embed="rId6"/>
                <a:stretch>
                  <a:fillRect l="-1569" t="-2703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375748B0-9160-3298-194F-D2B315A8F93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3937"/>
          <a:stretch>
            <a:fillRect/>
          </a:stretch>
        </p:blipFill>
        <p:spPr>
          <a:xfrm>
            <a:off x="8254252" y="4832777"/>
            <a:ext cx="3728359" cy="154457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39AE02B-8895-AF03-C10D-1D44FA346B8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1" r="66236"/>
          <a:stretch>
            <a:fillRect/>
          </a:stretch>
        </p:blipFill>
        <p:spPr>
          <a:xfrm>
            <a:off x="8174608" y="1658644"/>
            <a:ext cx="3805404" cy="3084605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3FE123AF-8826-7409-2BD5-FA02F75A415B}"/>
              </a:ext>
            </a:extLst>
          </p:cNvPr>
          <p:cNvSpPr/>
          <p:nvPr/>
        </p:nvSpPr>
        <p:spPr>
          <a:xfrm>
            <a:off x="1922929" y="4061012"/>
            <a:ext cx="403412" cy="3899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12892E-82C3-C837-CBD6-6B34BEA2E183}"/>
              </a:ext>
            </a:extLst>
          </p:cNvPr>
          <p:cNvSpPr txBox="1"/>
          <p:nvPr/>
        </p:nvSpPr>
        <p:spPr>
          <a:xfrm>
            <a:off x="2345310" y="4232413"/>
            <a:ext cx="14522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911cm-1 doesn’t match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F09B1D-B28F-DD72-4DFB-7C15B34F2A7F}"/>
              </a:ext>
            </a:extLst>
          </p:cNvPr>
          <p:cNvSpPr txBox="1"/>
          <p:nvPr/>
        </p:nvSpPr>
        <p:spPr>
          <a:xfrm>
            <a:off x="9130553" y="2192460"/>
            <a:ext cx="22322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Already affected by edge-launched (q) wave</a:t>
            </a:r>
          </a:p>
        </p:txBody>
      </p:sp>
    </p:spTree>
    <p:extLst>
      <p:ext uri="{BB962C8B-B14F-4D97-AF65-F5344CB8AC3E}">
        <p14:creationId xmlns:p14="http://schemas.microsoft.com/office/powerpoint/2010/main" val="2710383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4334F-4EFB-5D17-400E-9B54C0125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484224" cy="683746"/>
          </a:xfrm>
        </p:spPr>
        <p:txBody>
          <a:bodyPr>
            <a:normAutofit fontScale="90000"/>
          </a:bodyPr>
          <a:lstStyle/>
          <a:p>
            <a:r>
              <a:rPr lang="en-US" dirty="0"/>
              <a:t>FFT comparison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5517A98-35EA-D212-8207-E45F09CDBB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731495"/>
            <a:ext cx="5311414" cy="41852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1F9C59-7015-B66A-A8C4-BE4306B15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083" y="255668"/>
            <a:ext cx="6620609" cy="29516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026741-6542-F542-6E9B-BACC93EA3E0B}"/>
              </a:ext>
            </a:extLst>
          </p:cNvPr>
          <p:cNvSpPr txBox="1"/>
          <p:nvPr/>
        </p:nvSpPr>
        <p:spPr>
          <a:xfrm>
            <a:off x="322729" y="820271"/>
            <a:ext cx="3724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860cm-1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235FB6-E0F6-1C5C-5CAD-7FB5E35334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6493" b="50000"/>
          <a:stretch>
            <a:fillRect/>
          </a:stretch>
        </p:blipFill>
        <p:spPr>
          <a:xfrm>
            <a:off x="6643371" y="3227294"/>
            <a:ext cx="4280416" cy="355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266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4899F57-C247-3BA8-936A-37FE74CC2B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253331"/>
            <a:ext cx="5593447" cy="43513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DE7DFB-0D67-BA4B-7C88-D89FA2BA7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3447" y="234683"/>
            <a:ext cx="6503894" cy="31943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F65515-1DFB-2FE0-B193-2305A64C959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545" r="32757" b="50000"/>
          <a:stretch>
            <a:fillRect/>
          </a:stretch>
        </p:blipFill>
        <p:spPr>
          <a:xfrm>
            <a:off x="7043486" y="3252334"/>
            <a:ext cx="3956208" cy="337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362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73109B7-D367-E0B5-007E-021B22CE4E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032" y="1462554"/>
            <a:ext cx="5522243" cy="43513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257FA9-FE06-CB9C-858D-B6F98B6AE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3662" y="143062"/>
            <a:ext cx="6207306" cy="28825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4921E2-06A9-34F5-BD00-17490113C0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7220" t="598" r="82" b="49402"/>
          <a:stretch>
            <a:fillRect/>
          </a:stretch>
        </p:blipFill>
        <p:spPr>
          <a:xfrm>
            <a:off x="7110721" y="3144758"/>
            <a:ext cx="3956208" cy="337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975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A063010-EC7C-052B-1B12-BB084FF7DE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152805"/>
            <a:ext cx="5522243" cy="43513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19789C-E80B-93B4-0291-1E6FBFDE8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107" y="194982"/>
            <a:ext cx="6333246" cy="30457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C5D04D-F66F-8AF1-F3C4-C66065793B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2" t="49973" r="67050" b="27"/>
          <a:stretch>
            <a:fillRect/>
          </a:stretch>
        </p:blipFill>
        <p:spPr>
          <a:xfrm>
            <a:off x="6957626" y="3328474"/>
            <a:ext cx="3956208" cy="337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642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CEBA072-A289-3A20-0096-60D4652A9F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54511"/>
            <a:ext cx="5522243" cy="43513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BA8D00-7311-9AAD-6E30-BC05145C84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373"/>
          <a:stretch>
            <a:fillRect/>
          </a:stretch>
        </p:blipFill>
        <p:spPr>
          <a:xfrm>
            <a:off x="5522243" y="147918"/>
            <a:ext cx="6669757" cy="31556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E86AED-D4FF-21A4-0BCA-9801D194DF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301" t="49843" r="33001" b="157"/>
          <a:stretch>
            <a:fillRect/>
          </a:stretch>
        </p:blipFill>
        <p:spPr>
          <a:xfrm>
            <a:off x="6957626" y="3328474"/>
            <a:ext cx="3956208" cy="337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438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8150B67-41C6-D2F3-FA1E-7C9F1CA142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197" y="69926"/>
            <a:ext cx="4986227" cy="38789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F4DAF7-01CA-8EBB-CE29-D0F45F3B9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3447" y="217547"/>
            <a:ext cx="6452749" cy="29694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BFBF5D-60B4-A048-24AE-B3CA50F4B6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7057" t="49369" r="245" b="631"/>
          <a:stretch>
            <a:fillRect/>
          </a:stretch>
        </p:blipFill>
        <p:spPr>
          <a:xfrm>
            <a:off x="7266909" y="3101616"/>
            <a:ext cx="3484915" cy="2969406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FC10BEDB-D59F-8700-DE9B-F2557E6BE17C}"/>
              </a:ext>
            </a:extLst>
          </p:cNvPr>
          <p:cNvSpPr/>
          <p:nvPr/>
        </p:nvSpPr>
        <p:spPr>
          <a:xfrm>
            <a:off x="10112188" y="1828800"/>
            <a:ext cx="255494" cy="7395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85BA472-2002-5C26-18BF-A529EF122510}"/>
              </a:ext>
            </a:extLst>
          </p:cNvPr>
          <p:cNvCxnSpPr>
            <a:stCxn id="8" idx="4"/>
          </p:cNvCxnSpPr>
          <p:nvPr/>
        </p:nvCxnSpPr>
        <p:spPr>
          <a:xfrm>
            <a:off x="10239935" y="2568388"/>
            <a:ext cx="974912" cy="1371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D7DDCD6-B5F8-D1EC-E1A1-F28D765CEC6F}"/>
              </a:ext>
            </a:extLst>
          </p:cNvPr>
          <p:cNvSpPr txBox="1"/>
          <p:nvPr/>
        </p:nvSpPr>
        <p:spPr>
          <a:xfrm>
            <a:off x="11018333" y="3939988"/>
            <a:ext cx="1224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edge launched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A72E9A6-3715-9F0E-20CE-EBB73455B1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3937" t="9840" r="31753"/>
          <a:stretch>
            <a:fillRect/>
          </a:stretch>
        </p:blipFill>
        <p:spPr>
          <a:xfrm>
            <a:off x="4133235" y="3777987"/>
            <a:ext cx="2178736" cy="156692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C9A3F5E-1F2D-9543-5836-2544E9FD8D28}"/>
              </a:ext>
            </a:extLst>
          </p:cNvPr>
          <p:cNvSpPr txBox="1"/>
          <p:nvPr/>
        </p:nvSpPr>
        <p:spPr>
          <a:xfrm>
            <a:off x="7584702" y="6211669"/>
            <a:ext cx="2849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Tip launched wave affects the real space interval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D5958EE-B000-5EF9-B518-D0C374A1B99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7065"/>
          <a:stretch>
            <a:fillRect/>
          </a:stretch>
        </p:blipFill>
        <p:spPr>
          <a:xfrm>
            <a:off x="451677" y="4336026"/>
            <a:ext cx="2887268" cy="2289016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3FCF9A8C-A48D-D0F9-7EF7-49E950BD807D}"/>
              </a:ext>
            </a:extLst>
          </p:cNvPr>
          <p:cNvSpPr/>
          <p:nvPr/>
        </p:nvSpPr>
        <p:spPr>
          <a:xfrm>
            <a:off x="1699860" y="4426469"/>
            <a:ext cx="341464" cy="3197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21473F-422D-6BC1-E9B5-8CC429600BEA}"/>
              </a:ext>
            </a:extLst>
          </p:cNvPr>
          <p:cNvSpPr txBox="1"/>
          <p:nvPr/>
        </p:nvSpPr>
        <p:spPr>
          <a:xfrm>
            <a:off x="2345310" y="4398779"/>
            <a:ext cx="12292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911cm-1 doesn’t match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07D47CF-2B16-7D04-8B15-4088B4A853F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166" t="9002" r="-2476" b="838"/>
          <a:stretch>
            <a:fillRect/>
          </a:stretch>
        </p:blipFill>
        <p:spPr>
          <a:xfrm>
            <a:off x="4158675" y="5221151"/>
            <a:ext cx="2178736" cy="1566923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EC84D06-E7E8-AD55-4236-3DFDFB2A505B}"/>
              </a:ext>
            </a:extLst>
          </p:cNvPr>
          <p:cNvSpPr/>
          <p:nvPr/>
        </p:nvSpPr>
        <p:spPr>
          <a:xfrm>
            <a:off x="8249697" y="4426469"/>
            <a:ext cx="759669" cy="11403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7B12709-7814-2880-66DF-77F572B2DF1D}"/>
              </a:ext>
            </a:extLst>
          </p:cNvPr>
          <p:cNvCxnSpPr/>
          <p:nvPr/>
        </p:nvCxnSpPr>
        <p:spPr>
          <a:xfrm flipH="1" flipV="1">
            <a:off x="6096000" y="3777987"/>
            <a:ext cx="2153697" cy="6484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6146ADE-42F8-9AC4-D47E-2670575A44E0}"/>
              </a:ext>
            </a:extLst>
          </p:cNvPr>
          <p:cNvCxnSpPr/>
          <p:nvPr/>
        </p:nvCxnSpPr>
        <p:spPr>
          <a:xfrm flipH="1" flipV="1">
            <a:off x="6096000" y="5144756"/>
            <a:ext cx="2153697" cy="4220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21A1EA90-06AB-F26A-95F1-A7A940826C1D}"/>
              </a:ext>
            </a:extLst>
          </p:cNvPr>
          <p:cNvSpPr/>
          <p:nvPr/>
        </p:nvSpPr>
        <p:spPr>
          <a:xfrm>
            <a:off x="8922936" y="4586319"/>
            <a:ext cx="622998" cy="55843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32B2868-BF60-5DC0-EC5E-9C181AAA4A74}"/>
              </a:ext>
            </a:extLst>
          </p:cNvPr>
          <p:cNvCxnSpPr/>
          <p:nvPr/>
        </p:nvCxnSpPr>
        <p:spPr>
          <a:xfrm flipH="1">
            <a:off x="6096000" y="4586319"/>
            <a:ext cx="2826936" cy="6348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059CF29-779F-D89E-DD9D-B74EBD284C2E}"/>
              </a:ext>
            </a:extLst>
          </p:cNvPr>
          <p:cNvCxnSpPr/>
          <p:nvPr/>
        </p:nvCxnSpPr>
        <p:spPr>
          <a:xfrm flipH="1">
            <a:off x="6096000" y="5144756"/>
            <a:ext cx="2826936" cy="14802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73166D9-D482-51BE-8109-D2D9DCA65D0F}"/>
              </a:ext>
            </a:extLst>
          </p:cNvPr>
          <p:cNvSpPr txBox="1"/>
          <p:nvPr/>
        </p:nvSpPr>
        <p:spPr>
          <a:xfrm>
            <a:off x="10602658" y="845856"/>
            <a:ext cx="1224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tip launched</a:t>
            </a:r>
          </a:p>
        </p:txBody>
      </p:sp>
    </p:spTree>
    <p:extLst>
      <p:ext uri="{BB962C8B-B14F-4D97-AF65-F5344CB8AC3E}">
        <p14:creationId xmlns:p14="http://schemas.microsoft.com/office/powerpoint/2010/main" val="3667531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6CF71-7394-FF57-9946-DC55A9574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7/21/2026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B4B3C-8B1B-F51D-9B74-BA38950F2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Higher </a:t>
            </a:r>
            <a:r>
              <a:rPr lang="en-US" dirty="0" err="1"/>
              <a:t>wn</a:t>
            </a:r>
            <a:r>
              <a:rPr lang="en-US" dirty="0"/>
              <a:t> 2 peaks Lorentzian </a:t>
            </a:r>
            <a:r>
              <a:rPr lang="en-US" dirty="0" err="1"/>
              <a:t>fft</a:t>
            </a:r>
            <a:endParaRPr lang="en-US" dirty="0"/>
          </a:p>
          <a:p>
            <a:r>
              <a:rPr lang="en-US" dirty="0"/>
              <a:t>2 peaks </a:t>
            </a:r>
            <a:r>
              <a:rPr lang="en-US" dirty="0" err="1"/>
              <a:t>hankel</a:t>
            </a:r>
            <a:r>
              <a:rPr lang="en-US" dirty="0"/>
              <a:t>/sqrt fitting</a:t>
            </a:r>
          </a:p>
        </p:txBody>
      </p:sp>
    </p:spTree>
    <p:extLst>
      <p:ext uri="{BB962C8B-B14F-4D97-AF65-F5344CB8AC3E}">
        <p14:creationId xmlns:p14="http://schemas.microsoft.com/office/powerpoint/2010/main" val="2314790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343A5-438C-9C34-543E-5993EA2E2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290" y="0"/>
            <a:ext cx="10401886" cy="816561"/>
          </a:xfrm>
        </p:spPr>
        <p:txBody>
          <a:bodyPr/>
          <a:lstStyle/>
          <a:p>
            <a:r>
              <a:rPr lang="en-US" dirty="0"/>
              <a:t>Previous lower </a:t>
            </a:r>
            <a:r>
              <a:rPr lang="en-US" dirty="0" err="1"/>
              <a:t>wn</a:t>
            </a:r>
            <a:r>
              <a:rPr lang="en-US" dirty="0"/>
              <a:t> (one peak dominant)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27372A-8B33-E2E7-9A6E-D3F46473DB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6445"/>
          <a:stretch>
            <a:fillRect/>
          </a:stretch>
        </p:blipFill>
        <p:spPr>
          <a:xfrm>
            <a:off x="819975" y="686142"/>
            <a:ext cx="3721028" cy="29696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BAE44B-4602-6A29-94D4-F64DE6E1FC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881"/>
          <a:stretch>
            <a:fillRect/>
          </a:stretch>
        </p:blipFill>
        <p:spPr>
          <a:xfrm>
            <a:off x="5477461" y="686142"/>
            <a:ext cx="3721028" cy="29558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524B18-65F7-5AAD-E29B-229F0FF3D3C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258"/>
          <a:stretch>
            <a:fillRect/>
          </a:stretch>
        </p:blipFill>
        <p:spPr>
          <a:xfrm>
            <a:off x="819975" y="3751520"/>
            <a:ext cx="3791001" cy="299922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003FDD8-4F94-E139-EF5B-052AD5D1BF7C}"/>
              </a:ext>
            </a:extLst>
          </p:cNvPr>
          <p:cNvSpPr/>
          <p:nvPr/>
        </p:nvSpPr>
        <p:spPr>
          <a:xfrm>
            <a:off x="5434233" y="686142"/>
            <a:ext cx="3928428" cy="29696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DB53A3-1943-E9E1-FC5A-9E5AD46CE7D5}"/>
              </a:ext>
            </a:extLst>
          </p:cNvPr>
          <p:cNvSpPr txBox="1"/>
          <p:nvPr/>
        </p:nvSpPr>
        <p:spPr>
          <a:xfrm>
            <a:off x="7573992" y="1656272"/>
            <a:ext cx="1328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Ef=0.69eV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4F1DBF-2707-FE6F-BB5E-26FCC0E567D1}"/>
              </a:ext>
            </a:extLst>
          </p:cNvPr>
          <p:cNvSpPr txBox="1"/>
          <p:nvPr/>
        </p:nvSpPr>
        <p:spPr>
          <a:xfrm>
            <a:off x="2993511" y="1587260"/>
            <a:ext cx="1188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Ef=0.71eV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45324F-E916-DB2C-13C8-515532562D6A}"/>
              </a:ext>
            </a:extLst>
          </p:cNvPr>
          <p:cNvSpPr txBox="1"/>
          <p:nvPr/>
        </p:nvSpPr>
        <p:spPr>
          <a:xfrm>
            <a:off x="2895745" y="4522219"/>
            <a:ext cx="1188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Ef=0.67eV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E561C9F-25C2-5A53-310A-49B3F336C81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716"/>
          <a:stretch>
            <a:fillRect/>
          </a:stretch>
        </p:blipFill>
        <p:spPr>
          <a:xfrm>
            <a:off x="5425964" y="3694839"/>
            <a:ext cx="3870291" cy="307986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9798146-ED98-DB97-A7E8-F92BCA57CA55}"/>
              </a:ext>
            </a:extLst>
          </p:cNvPr>
          <p:cNvSpPr txBox="1"/>
          <p:nvPr/>
        </p:nvSpPr>
        <p:spPr>
          <a:xfrm>
            <a:off x="7713930" y="4534550"/>
            <a:ext cx="1188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Ef=0.65eV</a:t>
            </a:r>
          </a:p>
        </p:txBody>
      </p:sp>
    </p:spTree>
    <p:extLst>
      <p:ext uri="{BB962C8B-B14F-4D97-AF65-F5344CB8AC3E}">
        <p14:creationId xmlns:p14="http://schemas.microsoft.com/office/powerpoint/2010/main" val="4220623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F1C39-8C11-2E7D-E0FF-2C17B7E92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248"/>
            <a:ext cx="10434638" cy="534988"/>
          </a:xfrm>
        </p:spPr>
        <p:txBody>
          <a:bodyPr>
            <a:normAutofit fontScale="90000"/>
          </a:bodyPr>
          <a:lstStyle/>
          <a:p>
            <a:r>
              <a:rPr lang="en-US" dirty="0"/>
              <a:t>FFT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r>
              <a:rPr lang="zh-CN" altLang="en-US" dirty="0"/>
              <a:t> </a:t>
            </a:r>
            <a:r>
              <a:rPr lang="en-US" altLang="zh-CN" dirty="0"/>
              <a:t>Lorentzian for all </a:t>
            </a:r>
            <a:r>
              <a:rPr lang="en-US" altLang="zh-CN" dirty="0" err="1"/>
              <a:t>wns</a:t>
            </a:r>
            <a:r>
              <a:rPr lang="zh-CN" altLang="en-US" dirty="0"/>
              <a:t> （</a:t>
            </a:r>
            <a:r>
              <a:rPr lang="en-US" altLang="zh-CN" dirty="0"/>
              <a:t>Only FFT)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FBBA84-694A-9603-7C7D-DFF256F7B9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7396" y="828677"/>
            <a:ext cx="6703742" cy="58449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DCEEDE-B722-81D1-0AE3-58790A6DEFA9}"/>
              </a:ext>
            </a:extLst>
          </p:cNvPr>
          <p:cNvSpPr txBox="1"/>
          <p:nvPr/>
        </p:nvSpPr>
        <p:spPr>
          <a:xfrm>
            <a:off x="5551714" y="2558143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D75F4D"/>
                </a:solidFill>
              </a:rPr>
              <a:t>Orange: edge launched peak (q)</a:t>
            </a:r>
          </a:p>
          <a:p>
            <a:r>
              <a:rPr lang="en-US" dirty="0">
                <a:solidFill>
                  <a:srgbClr val="742982"/>
                </a:solidFill>
              </a:rPr>
              <a:t>Purple: tip-launched peak (2q)</a:t>
            </a:r>
          </a:p>
        </p:txBody>
      </p:sp>
    </p:spTree>
    <p:extLst>
      <p:ext uri="{BB962C8B-B14F-4D97-AF65-F5344CB8AC3E}">
        <p14:creationId xmlns:p14="http://schemas.microsoft.com/office/powerpoint/2010/main" val="4014823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2D254-763A-55DD-9C01-ABD6B87E1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486861" cy="763588"/>
          </a:xfrm>
        </p:spPr>
        <p:txBody>
          <a:bodyPr/>
          <a:lstStyle/>
          <a:p>
            <a:r>
              <a:rPr lang="en-US" altLang="zh-CN" dirty="0"/>
              <a:t>900-1000cm-1: 2-waves </a:t>
            </a:r>
            <a:r>
              <a:rPr lang="en-US" altLang="zh-CN" dirty="0" err="1"/>
              <a:t>hankel</a:t>
            </a:r>
            <a:r>
              <a:rPr lang="en-US" altLang="zh-CN" dirty="0"/>
              <a:t> fitting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AA4282A-25A6-E0D9-8C22-496E6CF5B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0688"/>
            <a:ext cx="6056223" cy="516731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62E6956-4950-DFDE-A204-F45EBFF0F5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6223" y="1769952"/>
            <a:ext cx="5963323" cy="508804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D1C87E6-756F-1122-5B82-DD152639919E}"/>
                  </a:ext>
                </a:extLst>
              </p:cNvPr>
              <p:cNvSpPr txBox="1"/>
              <p:nvPr/>
            </p:nvSpPr>
            <p:spPr>
              <a:xfrm>
                <a:off x="0" y="680636"/>
                <a:ext cx="7616444" cy="506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Model: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m:rPr>
                        <m:nor/>
                      </m:rPr>
                      <a:rPr lang="en-US" i="0" dirty="0">
                        <a:latin typeface="Cambria Math" panose="02040503050406030204" pitchFamily="18" charset="0"/>
                      </a:rPr>
                      <m:t>Re</m:t>
                    </m:r>
                    <m:d>
                      <m:dPr>
                        <m:begChr m:val="["/>
                        <m:endChr m:val="]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b>
                            </m:sSub>
                          </m:sup>
                        </m:sSup>
                        <m:sSubSup>
                          <m:sSub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p>
                        </m:sSubSup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Sup>
                              <m:sSubSupPr>
                                <m:ctrlP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</m:d>
                              </m:sup>
                            </m:sSubSup>
                            <m:sSub>
                              <m:sSubPr>
                                <m:ctrlP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m:rPr>
                        <m:nor/>
                      </m:rPr>
                      <a:rPr lang="en-US" i="0" dirty="0">
                        <a:latin typeface="Cambria Math" panose="02040503050406030204" pitchFamily="18" charset="0"/>
                      </a:rPr>
                      <m:t>Re</m:t>
                    </m:r>
                    <m:d>
                      <m:dPr>
                        <m:begChr m:val="["/>
                        <m:endChr m:val="]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b>
                            </m:sSub>
                          </m:sup>
                        </m:sSup>
                        <m:sSubSup>
                          <m:sSub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p>
                        </m:sSubSup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</m:d>
                              </m:sup>
                            </m:sSubSup>
                            <m:sSub>
                              <m:sSubPr>
                                <m:ctrlP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D1C87E6-756F-1122-5B82-DD1526399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80636"/>
                <a:ext cx="7616444" cy="506870"/>
              </a:xfrm>
              <a:prstGeom prst="rect">
                <a:avLst/>
              </a:prstGeom>
              <a:blipFill>
                <a:blip r:embed="rId5"/>
                <a:stretch>
                  <a:fillRect l="-667" b="-7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834F563-3578-12AE-FBF1-03A98BD405E8}"/>
                  </a:ext>
                </a:extLst>
              </p:cNvPr>
              <p:cNvSpPr txBox="1"/>
              <p:nvPr/>
            </p:nvSpPr>
            <p:spPr>
              <a:xfrm>
                <a:off x="1116767" y="1186514"/>
                <a:ext cx="6220918" cy="4869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u="none" strike="noStrike" dirty="0" smtClean="0">
                              <a:solidFill>
                                <a:srgbClr val="1A1A1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u="none" strike="noStrike" dirty="0" smtClean="0">
                              <a:solidFill>
                                <a:srgbClr val="1A1A1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u="none" strike="noStrike" dirty="0" smtClean="0">
                              <a:solidFill>
                                <a:srgbClr val="1A1A1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d>
                            <m:dPr>
                              <m:ctrlPr>
                                <a:rPr lang="en-US" b="0" i="1" u="none" strike="noStrike" dirty="0">
                                  <a:solidFill>
                                    <a:srgbClr val="1A1A1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u="none" strike="noStrike" dirty="0">
                                  <a:solidFill>
                                    <a:srgbClr val="1A1A1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u="none" strike="noStrike" dirty="0">
                                  <a:solidFill>
                                    <a:srgbClr val="1A1A1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</m:sup>
                      </m:sSubSup>
                      <m:r>
                        <a:rPr lang="en-US" b="0" i="1" u="none" strike="noStrike" dirty="0">
                          <a:solidFill>
                            <a:srgbClr val="1A1A1A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u="none" strike="noStrike" dirty="0">
                          <a:solidFill>
                            <a:srgbClr val="1A1A1A"/>
                          </a:solidFill>
                          <a:effectLst/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u="none" strike="noStrike" dirty="0">
                          <a:solidFill>
                            <a:srgbClr val="1A1A1A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u="none" strike="noStrike" dirty="0" err="1">
                          <a:solidFill>
                            <a:srgbClr val="1A1A1A"/>
                          </a:solidFill>
                          <a:effectLst/>
                          <a:latin typeface="Cambria Math" panose="02040503050406030204" pitchFamily="18" charset="0"/>
                        </a:rPr>
                        <m:t>𝑖</m:t>
                      </m:r>
                      <m:sSub>
                        <m:sSubPr>
                          <m:ctrlPr>
                            <a:rPr lang="en-US" b="0" i="1" u="none" strike="noStrike" dirty="0">
                              <a:solidFill>
                                <a:srgbClr val="1A1A1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u="none" strike="noStrike" dirty="0">
                              <a:solidFill>
                                <a:srgbClr val="1A1A1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b="0" i="0" u="none" strike="noStrike" dirty="0" err="1">
                              <a:solidFill>
                                <a:srgbClr val="1A1A1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imag</m:t>
                          </m:r>
                          <m:r>
                            <a:rPr lang="en-US" b="0" i="1" u="none" strike="noStrike" dirty="0">
                              <a:solidFill>
                                <a:srgbClr val="1A1A1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,2</m:t>
                          </m:r>
                          <m:r>
                            <a:rPr lang="en-US" b="0" i="1" u="none" strike="noStrike" dirty="0">
                              <a:solidFill>
                                <a:srgbClr val="1A1A1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b="0" i="1" u="none" strike="noStrike" dirty="0">
                          <a:solidFill>
                            <a:srgbClr val="1A1A1A"/>
                          </a:solidFill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u="none" strike="noStrike" dirty="0">
                          <a:solidFill>
                            <a:srgbClr val="737373"/>
                          </a:solidFill>
                          <a:effectLst/>
                          <a:latin typeface="Cambria Math" panose="02040503050406030204" pitchFamily="18" charset="0"/>
                        </a:rPr>
                        <m:t>  </m:t>
                      </m:r>
                      <m:sSubSup>
                        <m:sSubSupPr>
                          <m:ctrlPr>
                            <a:rPr lang="en-US" b="0" i="1" u="none" strike="noStrike" dirty="0" err="1">
                              <a:solidFill>
                                <a:srgbClr val="1A1A1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u="none" strike="noStrike" dirty="0" err="1">
                              <a:solidFill>
                                <a:srgbClr val="1A1A1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u="none" strike="noStrike" dirty="0" err="1">
                              <a:solidFill>
                                <a:srgbClr val="1A1A1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d>
                            <m:dPr>
                              <m:ctrlPr>
                                <a:rPr lang="en-US" b="0" i="1" u="none" strike="noStrike" dirty="0">
                                  <a:solidFill>
                                    <a:srgbClr val="1A1A1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u="none" strike="noStrike" dirty="0">
                                  <a:solidFill>
                                    <a:srgbClr val="1A1A1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</m:sup>
                      </m:sSubSup>
                      <m:r>
                        <a:rPr lang="en-US" b="0" i="1" u="none" strike="noStrike" dirty="0">
                          <a:solidFill>
                            <a:srgbClr val="1A1A1A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u="none" strike="noStrike" dirty="0">
                          <a:solidFill>
                            <a:srgbClr val="1A1A1A"/>
                          </a:solidFill>
                          <a:effectLst/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u="none" strike="noStrike" dirty="0">
                          <a:solidFill>
                            <a:srgbClr val="1A1A1A"/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u="none" strike="noStrike" dirty="0" err="1">
                          <a:solidFill>
                            <a:srgbClr val="1A1A1A"/>
                          </a:solidFill>
                          <a:effectLst/>
                          <a:latin typeface="Cambria Math" panose="02040503050406030204" pitchFamily="18" charset="0"/>
                        </a:rPr>
                        <m:t>𝑖</m:t>
                      </m:r>
                      <m:sSub>
                        <m:sSubPr>
                          <m:ctrlPr>
                            <a:rPr lang="en-US" b="0" i="1" u="none" strike="noStrike" dirty="0">
                              <a:solidFill>
                                <a:srgbClr val="1A1A1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u="none" strike="noStrike" dirty="0">
                              <a:solidFill>
                                <a:srgbClr val="1A1A1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b="0" i="0" u="none" strike="noStrike" dirty="0" err="1">
                              <a:solidFill>
                                <a:srgbClr val="1A1A1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imag</m:t>
                          </m:r>
                          <m:r>
                            <a:rPr lang="en-US" b="0" i="1" u="none" strike="noStrike" dirty="0">
                              <a:solidFill>
                                <a:srgbClr val="1A1A1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u="none" strike="noStrike" dirty="0">
                              <a:solidFill>
                                <a:srgbClr val="1A1A1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b="0" i="1" u="none" strike="noStrike" dirty="0">
                          <a:solidFill>
                            <a:srgbClr val="1A1A1A"/>
                          </a:solidFill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u="none" strike="noStrike" dirty="0">
                          <a:solidFill>
                            <a:srgbClr val="737373"/>
                          </a:solidFill>
                          <a:effectLst/>
                          <a:latin typeface="Cambria Math" panose="02040503050406030204" pitchFamily="18" charset="0"/>
                        </a:rPr>
                        <m:t>  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834F563-3578-12AE-FBF1-03A98BD40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767" y="1186514"/>
                <a:ext cx="6220918" cy="486993"/>
              </a:xfrm>
              <a:prstGeom prst="rect">
                <a:avLst/>
              </a:prstGeom>
              <a:blipFill>
                <a:blip r:embed="rId6"/>
                <a:stretch>
                  <a:fillRect b="-1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7793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74320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00" b="1" i="0" dirty="0">
                <a:solidFill>
                  <a:srgbClr val="1E2761"/>
                </a:solidFill>
                <a:latin typeface="Aptos"/>
              </a:rPr>
              <a:t>900cm⁻¹</a:t>
            </a:r>
          </a:p>
        </p:txBody>
      </p:sp>
      <p:pic>
        <p:nvPicPr>
          <p:cNvPr id="3" name="Picture 2" descr="900cm-1_hankel2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807" y="137160"/>
            <a:ext cx="4754880" cy="3566160"/>
          </a:xfrm>
          <a:prstGeom prst="rect">
            <a:avLst/>
          </a:prstGeom>
        </p:spPr>
      </p:pic>
      <p:pic>
        <p:nvPicPr>
          <p:cNvPr id="4" name="Picture 3" descr="900cm-1_fft_slidefo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840480"/>
            <a:ext cx="11551615" cy="273645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74320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Aptos"/>
              </a:rPr>
              <a:t>911cm⁻¹</a:t>
            </a:r>
          </a:p>
        </p:txBody>
      </p:sp>
      <p:pic>
        <p:nvPicPr>
          <p:cNvPr id="3" name="Picture 2" descr="911cm-1_hankel2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807" y="137160"/>
            <a:ext cx="4754880" cy="3566160"/>
          </a:xfrm>
          <a:prstGeom prst="rect">
            <a:avLst/>
          </a:prstGeom>
        </p:spPr>
      </p:pic>
      <p:pic>
        <p:nvPicPr>
          <p:cNvPr id="4" name="Picture 3" descr="911cm-1_fft_slidefo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840480"/>
            <a:ext cx="11551615" cy="274265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74320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Aptos"/>
              </a:rPr>
              <a:t>920cm⁻¹</a:t>
            </a:r>
          </a:p>
        </p:txBody>
      </p:sp>
      <p:pic>
        <p:nvPicPr>
          <p:cNvPr id="3" name="Picture 2" descr="920cm-1_hankel2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807" y="137160"/>
            <a:ext cx="4754880" cy="3566160"/>
          </a:xfrm>
          <a:prstGeom prst="rect">
            <a:avLst/>
          </a:prstGeom>
        </p:spPr>
      </p:pic>
      <p:pic>
        <p:nvPicPr>
          <p:cNvPr id="4" name="Picture 3" descr="920cm-1_fft_slidefo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840480"/>
            <a:ext cx="11551615" cy="273645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74320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Aptos"/>
              </a:rPr>
              <a:t>930cm⁻¹</a:t>
            </a:r>
          </a:p>
        </p:txBody>
      </p:sp>
      <p:pic>
        <p:nvPicPr>
          <p:cNvPr id="3" name="Picture 2" descr="930cm-1_hankel2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807" y="137160"/>
            <a:ext cx="4754880" cy="3566160"/>
          </a:xfrm>
          <a:prstGeom prst="rect">
            <a:avLst/>
          </a:prstGeom>
        </p:spPr>
      </p:pic>
      <p:pic>
        <p:nvPicPr>
          <p:cNvPr id="4" name="Picture 3" descr="930cm-1_fft_slidefo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840480"/>
            <a:ext cx="11551615" cy="274265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74320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Aptos"/>
              </a:rPr>
              <a:t>941cm⁻¹</a:t>
            </a:r>
          </a:p>
        </p:txBody>
      </p:sp>
      <p:pic>
        <p:nvPicPr>
          <p:cNvPr id="3" name="Picture 2" descr="941cm-1_hankel2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807" y="137160"/>
            <a:ext cx="4754880" cy="3566160"/>
          </a:xfrm>
          <a:prstGeom prst="rect">
            <a:avLst/>
          </a:prstGeom>
        </p:spPr>
      </p:pic>
      <p:pic>
        <p:nvPicPr>
          <p:cNvPr id="4" name="Picture 3" descr="941cm-1_fft_slidefo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840480"/>
            <a:ext cx="11551615" cy="273645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74320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Aptos"/>
              </a:rPr>
              <a:t>950cm⁻¹</a:t>
            </a:r>
          </a:p>
        </p:txBody>
      </p:sp>
      <p:pic>
        <p:nvPicPr>
          <p:cNvPr id="3" name="Picture 2" descr="950cm-1_hankel2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807" y="137160"/>
            <a:ext cx="4754880" cy="3566160"/>
          </a:xfrm>
          <a:prstGeom prst="rect">
            <a:avLst/>
          </a:prstGeom>
        </p:spPr>
      </p:pic>
      <p:pic>
        <p:nvPicPr>
          <p:cNvPr id="4" name="Picture 3" descr="950cm-1_fft_slidefo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840480"/>
            <a:ext cx="11551615" cy="273398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74320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Aptos"/>
              </a:rPr>
              <a:t>960cm⁻¹</a:t>
            </a:r>
          </a:p>
        </p:txBody>
      </p:sp>
      <p:pic>
        <p:nvPicPr>
          <p:cNvPr id="3" name="Picture 2" descr="960cm-1_hankel2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807" y="137160"/>
            <a:ext cx="4754880" cy="3566160"/>
          </a:xfrm>
          <a:prstGeom prst="rect">
            <a:avLst/>
          </a:prstGeom>
        </p:spPr>
      </p:pic>
      <p:pic>
        <p:nvPicPr>
          <p:cNvPr id="4" name="Picture 3" descr="960cm-1_fft_slidefo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840480"/>
            <a:ext cx="11551615" cy="273398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74320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Aptos"/>
              </a:rPr>
              <a:t>970cm⁻¹</a:t>
            </a:r>
          </a:p>
        </p:txBody>
      </p:sp>
      <p:pic>
        <p:nvPicPr>
          <p:cNvPr id="3" name="Picture 2" descr="970cm-1_hankel2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807" y="137160"/>
            <a:ext cx="4754880" cy="3566160"/>
          </a:xfrm>
          <a:prstGeom prst="rect">
            <a:avLst/>
          </a:prstGeom>
        </p:spPr>
      </p:pic>
      <p:pic>
        <p:nvPicPr>
          <p:cNvPr id="4" name="Picture 3" descr="970cm-1_fft_slidefo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840480"/>
            <a:ext cx="11551615" cy="273645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74320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Aptos"/>
              </a:rPr>
              <a:t>980cm⁻¹</a:t>
            </a:r>
          </a:p>
        </p:txBody>
      </p:sp>
      <p:pic>
        <p:nvPicPr>
          <p:cNvPr id="3" name="Picture 2" descr="980cm-1_hankel2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807" y="137160"/>
            <a:ext cx="4754880" cy="3566160"/>
          </a:xfrm>
          <a:prstGeom prst="rect">
            <a:avLst/>
          </a:prstGeom>
        </p:spPr>
      </p:pic>
      <p:pic>
        <p:nvPicPr>
          <p:cNvPr id="4" name="Picture 3" descr="980cm-1_fft_slidefo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840480"/>
            <a:ext cx="11551615" cy="273398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74320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Aptos"/>
              </a:rPr>
              <a:t>991cm⁻¹</a:t>
            </a:r>
          </a:p>
        </p:txBody>
      </p:sp>
      <p:pic>
        <p:nvPicPr>
          <p:cNvPr id="3" name="Picture 2" descr="991cm-1_hankel2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807" y="137160"/>
            <a:ext cx="4754880" cy="3566160"/>
          </a:xfrm>
          <a:prstGeom prst="rect">
            <a:avLst/>
          </a:prstGeom>
        </p:spPr>
      </p:pic>
      <p:pic>
        <p:nvPicPr>
          <p:cNvPr id="4" name="Picture 3" descr="991cm-1_fft_slidefo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840480"/>
            <a:ext cx="11551615" cy="274265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39" y="274320"/>
            <a:ext cx="2216331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00" b="1" i="0" dirty="0">
                <a:solidFill>
                  <a:srgbClr val="1E2761"/>
                </a:solidFill>
                <a:latin typeface="Aptos"/>
              </a:rPr>
              <a:t>1000cm⁻¹</a:t>
            </a:r>
          </a:p>
        </p:txBody>
      </p:sp>
      <p:pic>
        <p:nvPicPr>
          <p:cNvPr id="3" name="Picture 2" descr="1000cm-1_hankel2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807" y="137160"/>
            <a:ext cx="4754880" cy="3566160"/>
          </a:xfrm>
          <a:prstGeom prst="rect">
            <a:avLst/>
          </a:prstGeom>
        </p:spPr>
      </p:pic>
      <p:pic>
        <p:nvPicPr>
          <p:cNvPr id="4" name="Picture 3" descr="1000cm-1_fft_slidefo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840480"/>
            <a:ext cx="11551615" cy="27339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203</Words>
  <Application>Microsoft Macintosh PowerPoint</Application>
  <PresentationFormat>Widescreen</PresentationFormat>
  <Paragraphs>41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Cambria Math</vt:lpstr>
      <vt:lpstr>Office Theme</vt:lpstr>
      <vt:lpstr>GMG rp &amp; fitting</vt:lpstr>
      <vt:lpstr>Lower wn fitting </vt:lpstr>
      <vt:lpstr>FFT comparison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7/21/2026</vt:lpstr>
      <vt:lpstr>Previous lower wn (one peak dominant)</vt:lpstr>
      <vt:lpstr>FFT 2 Lorentzian for all wns （Only FFT)</vt:lpstr>
      <vt:lpstr>900-1000cm-1: 2-waves hankel fitting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 ZHE ZHOU</dc:creator>
  <cp:lastModifiedBy>SHI ZHE ZHOU</cp:lastModifiedBy>
  <cp:revision>21</cp:revision>
  <dcterms:created xsi:type="dcterms:W3CDTF">2026-07-13T20:16:09Z</dcterms:created>
  <dcterms:modified xsi:type="dcterms:W3CDTF">2026-07-21T20:13:53Z</dcterms:modified>
</cp:coreProperties>
</file>