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1BC915-F6D7-4791-B184-303873F43AA5}" v="8" dt="2026-06-16T21:00:32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78"/>
    <p:restoredTop sz="94670"/>
  </p:normalViewPr>
  <p:slideViewPr>
    <p:cSldViewPr snapToGrid="0">
      <p:cViewPr varScale="1">
        <p:scale>
          <a:sx n="117" d="100"/>
          <a:sy n="117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ming Shao" userId="O79kQwMag1s79luETjupjLLVYqTGAPIK+w+Jr6CjMHQ=" providerId="None" clId="Web-{931BC915-F6D7-4791-B184-303873F43AA5}"/>
    <pc:docChg chg="modSld">
      <pc:chgData name="Yinming Shao" userId="O79kQwMag1s79luETjupjLLVYqTGAPIK+w+Jr6CjMHQ=" providerId="None" clId="Web-{931BC915-F6D7-4791-B184-303873F43AA5}" dt="2026-06-16T21:00:32.656" v="7" actId="1076"/>
      <pc:docMkLst>
        <pc:docMk/>
      </pc:docMkLst>
      <pc:sldChg chg="modSp">
        <pc:chgData name="Yinming Shao" userId="O79kQwMag1s79luETjupjLLVYqTGAPIK+w+Jr6CjMHQ=" providerId="None" clId="Web-{931BC915-F6D7-4791-B184-303873F43AA5}" dt="2026-06-16T20:58:40.045" v="1" actId="1076"/>
        <pc:sldMkLst>
          <pc:docMk/>
          <pc:sldMk cId="2362838309" sldId="257"/>
        </pc:sldMkLst>
        <pc:picChg chg="mod">
          <ac:chgData name="Yinming Shao" userId="O79kQwMag1s79luETjupjLLVYqTGAPIK+w+Jr6CjMHQ=" providerId="None" clId="Web-{931BC915-F6D7-4791-B184-303873F43AA5}" dt="2026-06-16T20:37:55.626" v="0" actId="1076"/>
          <ac:picMkLst>
            <pc:docMk/>
            <pc:sldMk cId="2362838309" sldId="257"/>
            <ac:picMk id="30" creationId="{2228E807-94A0-ADB0-54FF-C600D871C9C4}"/>
          </ac:picMkLst>
        </pc:picChg>
        <pc:cxnChg chg="mod">
          <ac:chgData name="Yinming Shao" userId="O79kQwMag1s79luETjupjLLVYqTGAPIK+w+Jr6CjMHQ=" providerId="None" clId="Web-{931BC915-F6D7-4791-B184-303873F43AA5}" dt="2026-06-16T20:58:40.045" v="1" actId="1076"/>
          <ac:cxnSpMkLst>
            <pc:docMk/>
            <pc:sldMk cId="2362838309" sldId="257"/>
            <ac:cxnSpMk id="17" creationId="{A49DBDE8-F0C8-672B-0572-922BBC1C6D17}"/>
          </ac:cxnSpMkLst>
        </pc:cxnChg>
      </pc:sldChg>
      <pc:sldChg chg="addSp modSp">
        <pc:chgData name="Yinming Shao" userId="O79kQwMag1s79luETjupjLLVYqTGAPIK+w+Jr6CjMHQ=" providerId="None" clId="Web-{931BC915-F6D7-4791-B184-303873F43AA5}" dt="2026-06-16T21:00:32.656" v="7" actId="1076"/>
        <pc:sldMkLst>
          <pc:docMk/>
          <pc:sldMk cId="2114014952" sldId="261"/>
        </pc:sldMkLst>
        <pc:picChg chg="add mod">
          <ac:chgData name="Yinming Shao" userId="O79kQwMag1s79luETjupjLLVYqTGAPIK+w+Jr6CjMHQ=" providerId="None" clId="Web-{931BC915-F6D7-4791-B184-303873F43AA5}" dt="2026-06-16T21:00:32.656" v="7" actId="1076"/>
          <ac:picMkLst>
            <pc:docMk/>
            <pc:sldMk cId="2114014952" sldId="261"/>
            <ac:picMk id="3" creationId="{C5A70477-4B3F-BD9E-2650-5EBF8F24D8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5E7A-C24C-2ECB-F184-DA169D88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AF62B-2F30-E53F-7BED-BA0DD8E14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5818-EEA9-D736-4918-A4849B7F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7B2E2-EAE2-D8CB-4FC1-5B095261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6D21-B4B8-5084-8C2B-6EEEDB90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6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AE0C-A6CD-9E51-36EB-DEB4B76D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4F731-ADF4-D8B9-1672-FA7F64134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204BD-C8A1-4279-C719-69F9268D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7C5AB-C902-CFBF-43A4-58B2BA1D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2B23F-078E-3861-B90E-2F092511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5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7806-3907-D3C6-1011-9E7EDB9D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9FC77-44BF-BDA9-5630-D96407D8F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5108-FD56-D281-B850-AC2D2821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F3743-E790-697A-4C99-922D4B4F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A432C-6DB3-D878-042A-8CD7DB72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9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3409-1421-64A6-FD38-22DF152E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A7CC6-C287-DC74-B664-7D239A274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1F958-8124-23C2-46A0-CA66C2533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1D3F8-EFAA-5A53-6584-27B6E394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941BC-8E74-142C-3E6A-06446474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CAC3F-4F33-FEF9-E0F4-6543F97F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9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CC8D-4949-03E8-8A2B-05837AF20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9F46E-7BC8-1E33-B7CD-226BBB09F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6B432-940B-C3EB-1901-3BEE78F75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A128E-3CC9-8BF5-9D42-150FB3A6D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A1159-45CB-F6A1-AA6F-8E6595EF07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34E5F4-FD02-3D4D-891B-1D4B5593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0C2F0-453A-32ED-BF7A-BC2E764DF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F369C-C110-E6A1-56E0-3677F537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52ECA-FE42-DDD0-EFE4-61D61BA7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0F6CB-CB40-62F9-EA63-7F6D3B8AD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F1820-A095-F2B3-54B7-91F37089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CE63A-8B5D-E2FE-40B6-C56C3011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2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5E40F-5754-CCC8-ABD3-FDAF12BA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59345-849A-F5B5-2FC9-7B28889CB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0D82F-78B4-D0BD-7DCE-7B7FECD9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2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8534-2CD0-7051-AAD6-89DE2916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3B61-B111-B18B-8CC5-09CA57F00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CA2CF-0029-B3E6-DD32-0065571A0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01868-8C00-A6F7-F1E4-8A8C86D4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ECA96-E784-F704-BF04-54468B69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3391C-4996-4DC5-58F7-97C6F57E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2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C21B-5637-7DA9-A893-E04D3AD9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4E5717-84CD-3B8B-7427-D3293EA00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29DC6-9854-0EB7-E536-D55817F64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C87E8-C0F5-E321-8B47-7F78109BA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3FA4-1C3E-B67B-AFD8-B1BAEACE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557D4-3D42-E100-188A-3E8C3963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5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C46BC-7DDD-E10A-6FE4-725FBCF76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70B4E-4D1F-3B2F-CC73-C8B74232E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9A947-F47B-5046-CA76-3E3CE31E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25588-095D-8384-2810-298E4A5C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75AC1-70E4-C387-C7B8-C47A4765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6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6F9C27-DD0B-DBA9-C8A6-97520CEB7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0990F-E026-5F83-5135-12B8C6713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3D692-A99B-B8E4-F462-BF0225E8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F9BDF-F669-C101-1C0C-EF32FB62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638E-2414-1C5A-C2E2-802FA78B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5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60ECA-1F32-104E-1CCA-D513C4223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B8D49-FEC7-85F2-78D1-422D7D977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D7EEC-59E3-9C08-4B9F-FF0E8297B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1A6EF-01ED-AC42-A379-0DC0C309FE0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3690A-4C0E-AB52-BD9B-8A6A7C40C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F38E-A435-25E5-D8A6-E9879E743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F5271-A9E2-7E4F-88BB-FE20FDB0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5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9456-7071-9DD3-4EA4-64ACCEBD6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GMG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DDCF5-1A19-3E08-B44E-5CE18BBE92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70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40A7-3B05-CF20-BD08-2BF25159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89" y="-44081"/>
            <a:ext cx="10526486" cy="858499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6F50A1-4E86-C2DC-EF8B-3509075309B9}"/>
              </a:ext>
            </a:extLst>
          </p:cNvPr>
          <p:cNvGrpSpPr/>
          <p:nvPr/>
        </p:nvGrpSpPr>
        <p:grpSpPr>
          <a:xfrm>
            <a:off x="-7338" y="1742525"/>
            <a:ext cx="5486400" cy="4734314"/>
            <a:chOff x="342856" y="1839658"/>
            <a:chExt cx="5139717" cy="4320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8DA5347-C841-3281-9301-A58AF1FA35F8}"/>
                </a:ext>
              </a:extLst>
            </p:cNvPr>
            <p:cNvGrpSpPr/>
            <p:nvPr/>
          </p:nvGrpSpPr>
          <p:grpSpPr>
            <a:xfrm>
              <a:off x="2774506" y="1839658"/>
              <a:ext cx="2708067" cy="4320000"/>
              <a:chOff x="6080816" y="767293"/>
              <a:chExt cx="2708067" cy="4320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536D50C-8B7C-4687-65C5-E8A59CA36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7334"/>
              <a:stretch>
                <a:fillRect/>
              </a:stretch>
            </p:blipFill>
            <p:spPr>
              <a:xfrm>
                <a:off x="6222534" y="767293"/>
                <a:ext cx="2566349" cy="4320000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0B77012-07CA-2B9E-EF00-21B20C52BAE6}"/>
                  </a:ext>
                </a:extLst>
              </p:cNvPr>
              <p:cNvSpPr/>
              <p:nvPr/>
            </p:nvSpPr>
            <p:spPr>
              <a:xfrm>
                <a:off x="6080816" y="1596436"/>
                <a:ext cx="279400" cy="19981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4CDA1AC-5C97-82F2-DEC7-2A9F892BDED3}"/>
                </a:ext>
              </a:extLst>
            </p:cNvPr>
            <p:cNvGrpSpPr/>
            <p:nvPr/>
          </p:nvGrpSpPr>
          <p:grpSpPr>
            <a:xfrm>
              <a:off x="342856" y="1839658"/>
              <a:ext cx="2706048" cy="4320000"/>
              <a:chOff x="2340566" y="767293"/>
              <a:chExt cx="2706048" cy="43200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B68432A-575D-6ACF-A600-F7AF3DE72A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7334"/>
              <a:stretch>
                <a:fillRect/>
              </a:stretch>
            </p:blipFill>
            <p:spPr>
              <a:xfrm>
                <a:off x="2480266" y="767293"/>
                <a:ext cx="2566348" cy="4320000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A0754E4-3AE9-6270-05CE-DA26E66120B7}"/>
                  </a:ext>
                </a:extLst>
              </p:cNvPr>
              <p:cNvSpPr/>
              <p:nvPr/>
            </p:nvSpPr>
            <p:spPr>
              <a:xfrm>
                <a:off x="2340566" y="1798515"/>
                <a:ext cx="279400" cy="19981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B47AD0-FC09-7BE6-A16B-E9555B65F2D7}"/>
                </a:ext>
              </a:extLst>
            </p:cNvPr>
            <p:cNvSpPr txBox="1"/>
            <p:nvPr/>
          </p:nvSpPr>
          <p:spPr>
            <a:xfrm>
              <a:off x="1991286" y="5465182"/>
              <a:ext cx="984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MoO</a:t>
              </a:r>
              <a:r>
                <a:rPr lang="en-US" baseline="-25000"/>
                <a:t>3</a:t>
              </a:r>
              <a:r>
                <a:rPr lang="en-US"/>
                <a:t>/G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97661A-7DC4-8BE7-2E02-E5BE11483C0E}"/>
                </a:ext>
              </a:extLst>
            </p:cNvPr>
            <p:cNvSpPr txBox="1"/>
            <p:nvPr/>
          </p:nvSpPr>
          <p:spPr>
            <a:xfrm>
              <a:off x="4306971" y="5285471"/>
              <a:ext cx="11684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Graphene</a:t>
              </a:r>
            </a:p>
            <a:p>
              <a:r>
                <a:rPr lang="en-US" dirty="0"/>
                <a:t>Edge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F07E90-EBAB-599B-E980-470CB6226555}"/>
                </a:ext>
              </a:extLst>
            </p:cNvPr>
            <p:cNvCxnSpPr>
              <a:cxnSpLocks/>
            </p:cNvCxnSpPr>
            <p:nvPr/>
          </p:nvCxnSpPr>
          <p:spPr>
            <a:xfrm>
              <a:off x="1524526" y="5197724"/>
              <a:ext cx="0" cy="38099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1B4C527-949E-B32F-A060-CFF16CD152F3}"/>
                </a:ext>
              </a:extLst>
            </p:cNvPr>
            <p:cNvCxnSpPr>
              <a:cxnSpLocks/>
            </p:cNvCxnSpPr>
            <p:nvPr/>
          </p:nvCxnSpPr>
          <p:spPr>
            <a:xfrm>
              <a:off x="2010500" y="5197724"/>
              <a:ext cx="0" cy="38099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E2CBDBD-9A02-349B-E83A-1A4E2114A4FE}"/>
                </a:ext>
              </a:extLst>
            </p:cNvPr>
            <p:cNvCxnSpPr>
              <a:cxnSpLocks/>
            </p:cNvCxnSpPr>
            <p:nvPr/>
          </p:nvCxnSpPr>
          <p:spPr>
            <a:xfrm>
              <a:off x="3798242" y="5212368"/>
              <a:ext cx="0" cy="38094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BF52352-0824-6299-8E6C-1F7FBCFE9D87}"/>
                </a:ext>
              </a:extLst>
            </p:cNvPr>
            <p:cNvCxnSpPr>
              <a:cxnSpLocks/>
            </p:cNvCxnSpPr>
            <p:nvPr/>
          </p:nvCxnSpPr>
          <p:spPr>
            <a:xfrm>
              <a:off x="4131815" y="5212368"/>
              <a:ext cx="0" cy="38094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1355322-9E57-5FF3-637D-3852B2FA358B}"/>
                </a:ext>
              </a:extLst>
            </p:cNvPr>
            <p:cNvCxnSpPr/>
            <p:nvPr/>
          </p:nvCxnSpPr>
          <p:spPr>
            <a:xfrm>
              <a:off x="1524526" y="5409389"/>
              <a:ext cx="47750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49DBDE8-F0C8-672B-0572-922BBC1C6D17}"/>
                </a:ext>
              </a:extLst>
            </p:cNvPr>
            <p:cNvCxnSpPr>
              <a:cxnSpLocks/>
            </p:cNvCxnSpPr>
            <p:nvPr/>
          </p:nvCxnSpPr>
          <p:spPr>
            <a:xfrm>
              <a:off x="3771473" y="5454792"/>
              <a:ext cx="333573" cy="0"/>
            </a:xfrm>
            <a:prstGeom prst="straightConnector1">
              <a:avLst/>
            </a:prstGeom>
            <a:ln w="38100">
              <a:solidFill>
                <a:srgbClr val="FF7F0E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47AA760-5864-6DCB-FD05-F3200D7F0E68}"/>
                    </a:ext>
                  </a:extLst>
                </p:cNvPr>
                <p:cNvSpPr txBox="1"/>
                <p:nvPr/>
              </p:nvSpPr>
              <p:spPr>
                <a:xfrm>
                  <a:off x="1557764" y="5578722"/>
                  <a:ext cx="402509" cy="23205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47AA760-5864-6DCB-FD05-F3200D7F0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7764" y="5578722"/>
                  <a:ext cx="402509" cy="232051"/>
                </a:xfrm>
                <a:prstGeom prst="rect">
                  <a:avLst/>
                </a:prstGeom>
                <a:blipFill>
                  <a:blip r:embed="rId4"/>
                  <a:stretch>
                    <a:fillRect l="-8571" r="-5714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2659BFB-22E6-7E76-8C83-F0D8E5148CC8}"/>
                    </a:ext>
                  </a:extLst>
                </p:cNvPr>
                <p:cNvSpPr txBox="1"/>
                <p:nvPr/>
              </p:nvSpPr>
              <p:spPr>
                <a:xfrm>
                  <a:off x="3764270" y="5593315"/>
                  <a:ext cx="394287" cy="23205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7F0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smtClean="0">
                                <a:solidFill>
                                  <a:srgbClr val="FF7F0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7F0E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7F0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1400">
                    <a:solidFill>
                      <a:srgbClr val="FF7F0E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2659BFB-22E6-7E76-8C83-F0D8E5148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270" y="5593315"/>
                  <a:ext cx="394287" cy="232051"/>
                </a:xfrm>
                <a:prstGeom prst="rect">
                  <a:avLst/>
                </a:prstGeom>
                <a:blipFill>
                  <a:blip r:embed="rId5"/>
                  <a:stretch>
                    <a:fillRect l="-11765" t="-5000" r="-5882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9961EB-DAAB-4D19-FB30-0FA5DDA97A68}"/>
              </a:ext>
            </a:extLst>
          </p:cNvPr>
          <p:cNvGrpSpPr/>
          <p:nvPr/>
        </p:nvGrpSpPr>
        <p:grpSpPr>
          <a:xfrm>
            <a:off x="381035" y="587183"/>
            <a:ext cx="4733566" cy="1018511"/>
            <a:chOff x="522514" y="875561"/>
            <a:chExt cx="4733566" cy="101851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CA3879-B4AE-ECE2-BE00-8BE60C77CE6F}"/>
                </a:ext>
              </a:extLst>
            </p:cNvPr>
            <p:cNvSpPr txBox="1"/>
            <p:nvPr/>
          </p:nvSpPr>
          <p:spPr>
            <a:xfrm>
              <a:off x="522514" y="875561"/>
              <a:ext cx="442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BDD23F-CA54-F0B9-050A-370E6E50962D}"/>
                </a:ext>
              </a:extLst>
            </p:cNvPr>
            <p:cNvSpPr txBox="1"/>
            <p:nvPr/>
          </p:nvSpPr>
          <p:spPr>
            <a:xfrm>
              <a:off x="2957783" y="875561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08AC356-AB72-8D0D-F04A-45EE4A70C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061" y="1328244"/>
              <a:ext cx="2208928" cy="564879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904E44B-C5AA-B1DE-3FB8-B06D5081C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1427" y="1329192"/>
              <a:ext cx="2074653" cy="564880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B6546D8-E8EB-788D-0BF5-BD1BEEDC0232}"/>
                </a:ext>
              </a:extLst>
            </p:cNvPr>
            <p:cNvCxnSpPr/>
            <p:nvPr/>
          </p:nvCxnSpPr>
          <p:spPr>
            <a:xfrm flipH="1" flipV="1">
              <a:off x="2023427" y="1543825"/>
              <a:ext cx="581187" cy="2092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A3BF1145-EC20-CB16-7BB0-3B024D43DC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9152" y="214242"/>
            <a:ext cx="5270541" cy="27447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228E807-94A0-ADB0-54FF-C600D871C9C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176" t="12028" r="18197" b="15010"/>
          <a:stretch>
            <a:fillRect/>
          </a:stretch>
        </p:blipFill>
        <p:spPr>
          <a:xfrm>
            <a:off x="3777374" y="78356"/>
            <a:ext cx="2464904" cy="62153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C976B18-73AD-FF80-240C-8024270455C4}"/>
              </a:ext>
            </a:extLst>
          </p:cNvPr>
          <p:cNvSpPr txBox="1"/>
          <p:nvPr/>
        </p:nvSpPr>
        <p:spPr>
          <a:xfrm>
            <a:off x="6239152" y="3746071"/>
            <a:ext cx="61856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effectLst/>
              </a:rPr>
              <a:t>[1]A. Woessner et al., Highly confined low-loss plasmons in graphene–boron nitride heterostructures, Nature Mater </a:t>
            </a:r>
            <a:r>
              <a:rPr lang="en-US" sz="1400" b="1" dirty="0">
                <a:effectLst/>
              </a:rPr>
              <a:t>14</a:t>
            </a:r>
            <a:r>
              <a:rPr lang="en-US" sz="1400" dirty="0">
                <a:effectLst/>
              </a:rPr>
              <a:t>, 421 (2015).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0F63644-C75E-620B-C1B7-FAAD92130C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4393865"/>
            <a:ext cx="5712056" cy="224989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5991664-5E46-F19D-20FE-0AC1A8EF91B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32189"/>
          <a:stretch>
            <a:fillRect/>
          </a:stretch>
        </p:blipFill>
        <p:spPr>
          <a:xfrm>
            <a:off x="5817477" y="2837058"/>
            <a:ext cx="5270541" cy="89876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48319F9-F00D-A245-EA0B-66862F251D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2804" y="1828965"/>
            <a:ext cx="1082134" cy="22862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E1C58F6-5346-D2CA-1A4C-6BF8035357E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5808" y="1849177"/>
            <a:ext cx="1082134" cy="22862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9C0E4CA-2CA6-FFCE-96E4-E609C13523B7}"/>
              </a:ext>
            </a:extLst>
          </p:cNvPr>
          <p:cNvSpPr txBox="1"/>
          <p:nvPr/>
        </p:nvSpPr>
        <p:spPr>
          <a:xfrm>
            <a:off x="1349376" y="2021184"/>
            <a:ext cx="473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860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276F58-DB0C-028A-BE7E-1DEC200097DD}"/>
              </a:ext>
            </a:extLst>
          </p:cNvPr>
          <p:cNvSpPr txBox="1"/>
          <p:nvPr/>
        </p:nvSpPr>
        <p:spPr>
          <a:xfrm>
            <a:off x="2330245" y="2021185"/>
            <a:ext cx="569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1000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5100B5-5287-E3A4-68FC-B594C4552911}"/>
              </a:ext>
            </a:extLst>
          </p:cNvPr>
          <p:cNvSpPr txBox="1"/>
          <p:nvPr/>
        </p:nvSpPr>
        <p:spPr>
          <a:xfrm>
            <a:off x="3779682" y="2041395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860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540461-D6B2-48D9-75C8-7DAB2AA2D611}"/>
              </a:ext>
            </a:extLst>
          </p:cNvPr>
          <p:cNvSpPr txBox="1"/>
          <p:nvPr/>
        </p:nvSpPr>
        <p:spPr>
          <a:xfrm>
            <a:off x="4760551" y="2041396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0D2EA89-5A08-8009-FD13-F8D6DEDAA7E8}"/>
                  </a:ext>
                </a:extLst>
              </p:cNvPr>
              <p:cNvSpPr txBox="1"/>
              <p:nvPr/>
            </p:nvSpPr>
            <p:spPr>
              <a:xfrm>
                <a:off x="751569" y="1851852"/>
                <a:ext cx="77271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cm</m:t>
                          </m:r>
                        </m:e>
                        <m: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0D2EA89-5A08-8009-FD13-F8D6DEDAA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69" y="1851852"/>
                <a:ext cx="772712" cy="215444"/>
              </a:xfrm>
              <a:prstGeom prst="rect">
                <a:avLst/>
              </a:prstGeom>
              <a:blipFill>
                <a:blip r:embed="rId13"/>
                <a:stretch>
                  <a:fillRect l="-3226" t="-5556" r="-645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5580809-B764-A8F3-80FB-5416D2814B3C}"/>
                  </a:ext>
                </a:extLst>
              </p:cNvPr>
              <p:cNvSpPr txBox="1"/>
              <p:nvPr/>
            </p:nvSpPr>
            <p:spPr>
              <a:xfrm>
                <a:off x="3192930" y="1855765"/>
                <a:ext cx="77271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cm</m:t>
                          </m:r>
                        </m:e>
                        <m: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5580809-B764-A8F3-80FB-5416D2814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930" y="1855765"/>
                <a:ext cx="772712" cy="215444"/>
              </a:xfrm>
              <a:prstGeom prst="rect">
                <a:avLst/>
              </a:prstGeom>
              <a:blipFill>
                <a:blip r:embed="rId14"/>
                <a:stretch>
                  <a:fillRect l="-3226" t="-5263" r="-6452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83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328A3-B977-8E1E-1970-025622AE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" y="0"/>
            <a:ext cx="10515600" cy="1325563"/>
          </a:xfrm>
        </p:spPr>
        <p:txBody>
          <a:bodyPr/>
          <a:lstStyle/>
          <a:p>
            <a:r>
              <a:rPr lang="en-US" dirty="0"/>
              <a:t>Fitting</a:t>
            </a:r>
            <a:r>
              <a:rPr lang="zh-CN" altLang="en-US" dirty="0"/>
              <a:t> </a:t>
            </a:r>
            <a:r>
              <a:rPr lang="en-US" altLang="zh-CN" dirty="0"/>
              <a:t>logic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AFEBE-F861-F417-78D4-D355939F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8660"/>
            <a:ext cx="6686996" cy="11392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EE771-1EE2-C26D-5025-2803FF1FFF3C}"/>
              </a:ext>
            </a:extLst>
          </p:cNvPr>
          <p:cNvSpPr txBox="1"/>
          <p:nvPr/>
        </p:nvSpPr>
        <p:spPr>
          <a:xfrm>
            <a:off x="1223682" y="2218765"/>
            <a:ext cx="387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Theory model: circular wave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936E09-F754-D372-A956-BE9267019E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189"/>
          <a:stretch>
            <a:fillRect/>
          </a:stretch>
        </p:blipFill>
        <p:spPr>
          <a:xfrm>
            <a:off x="125506" y="3429000"/>
            <a:ext cx="6680910" cy="1139266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292E5A55-4B85-B454-6BA4-68C5883B773C}"/>
              </a:ext>
            </a:extLst>
          </p:cNvPr>
          <p:cNvSpPr/>
          <p:nvPr/>
        </p:nvSpPr>
        <p:spPr>
          <a:xfrm>
            <a:off x="2447365" y="2588097"/>
            <a:ext cx="268941" cy="8409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30935-13A0-0492-0457-97817A4E0D36}"/>
              </a:ext>
            </a:extLst>
          </p:cNvPr>
          <p:cNvSpPr txBox="1"/>
          <p:nvPr/>
        </p:nvSpPr>
        <p:spPr>
          <a:xfrm>
            <a:off x="2716306" y="2650255"/>
            <a:ext cx="2661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 </a:t>
            </a:r>
            <a:r>
              <a:rPr lang="en-US" dirty="0" err="1"/>
              <a:t>hankel</a:t>
            </a:r>
            <a:r>
              <a:rPr lang="en-US" dirty="0"/>
              <a:t> transformation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0A3AE4C0-BAFF-5885-9555-0C28D68C991E}"/>
              </a:ext>
            </a:extLst>
          </p:cNvPr>
          <p:cNvSpPr/>
          <p:nvPr/>
        </p:nvSpPr>
        <p:spPr>
          <a:xfrm>
            <a:off x="2447365" y="4260758"/>
            <a:ext cx="356347" cy="11392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33C03-F561-99F3-7DEE-C1ED13B58C8D}"/>
              </a:ext>
            </a:extLst>
          </p:cNvPr>
          <p:cNvSpPr txBox="1"/>
          <p:nvPr/>
        </p:nvSpPr>
        <p:spPr>
          <a:xfrm>
            <a:off x="1399454" y="5594674"/>
            <a:ext cx="2808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in momentum space with T(k)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A28EDD-5C25-9CB2-C19D-084F88CD8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004" y="1215712"/>
            <a:ext cx="5270541" cy="27447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5BF21E-13C7-4616-E533-1B55E07FF23A}"/>
              </a:ext>
            </a:extLst>
          </p:cNvPr>
          <p:cNvSpPr txBox="1"/>
          <p:nvPr/>
        </p:nvSpPr>
        <p:spPr>
          <a:xfrm>
            <a:off x="6972017" y="4091726"/>
            <a:ext cx="479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effectLst/>
              </a:rPr>
              <a:t>[1]A. Woessner et al., Highly confined low-loss plasmons in graphene–boron nitride heterostructures, Nature Mater </a:t>
            </a:r>
            <a:r>
              <a:rPr lang="en-US" sz="1400" b="1" dirty="0">
                <a:effectLst/>
              </a:rPr>
              <a:t>14</a:t>
            </a:r>
            <a:r>
              <a:rPr lang="en-US" sz="1400" dirty="0">
                <a:effectLst/>
              </a:rPr>
              <a:t>, 421 (2015).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6F1776-F6DC-D039-1789-CB15642F9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055" y="5201747"/>
            <a:ext cx="7772400" cy="57759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AC29AE5-50B2-834A-6CDF-AA7C936263CC}"/>
              </a:ext>
            </a:extLst>
          </p:cNvPr>
          <p:cNvSpPr/>
          <p:nvPr/>
        </p:nvSpPr>
        <p:spPr>
          <a:xfrm>
            <a:off x="5096435" y="5490543"/>
            <a:ext cx="2131679" cy="2887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2D66A5-E11B-F9EC-4BFF-DD5974FC9510}"/>
              </a:ext>
            </a:extLst>
          </p:cNvPr>
          <p:cNvCxnSpPr/>
          <p:nvPr/>
        </p:nvCxnSpPr>
        <p:spPr>
          <a:xfrm flipV="1">
            <a:off x="6096000" y="4260758"/>
            <a:ext cx="0" cy="1229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44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B6CB7-2066-C89B-DBD0-42F0212FE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84971" cy="483961"/>
          </a:xfrm>
        </p:spPr>
        <p:txBody>
          <a:bodyPr>
            <a:normAutofit fontScale="90000"/>
          </a:bodyPr>
          <a:lstStyle/>
          <a:p>
            <a:r>
              <a:rPr lang="en-US" dirty="0"/>
              <a:t>860cm-1: GMG3_graphene3x1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298F1-8EFA-21C8-AF39-B6BC63EDC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795"/>
          <a:stretch>
            <a:fillRect/>
          </a:stretch>
        </p:blipFill>
        <p:spPr>
          <a:xfrm>
            <a:off x="0" y="483961"/>
            <a:ext cx="7678271" cy="3491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AC6C80-4BAE-35BF-7E3A-FB7F00DB1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34"/>
          <a:stretch>
            <a:fillRect/>
          </a:stretch>
        </p:blipFill>
        <p:spPr>
          <a:xfrm>
            <a:off x="7964946" y="241980"/>
            <a:ext cx="3697941" cy="6390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2C40FA-E5E6-4349-7BF6-363FAE1672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09"/>
          <a:stretch>
            <a:fillRect/>
          </a:stretch>
        </p:blipFill>
        <p:spPr>
          <a:xfrm>
            <a:off x="0" y="3945729"/>
            <a:ext cx="3387769" cy="2912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5EEFC1-E62D-F6A5-3700-6252B9683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8757" y="467926"/>
            <a:ext cx="1082134" cy="2286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C939DE-C86D-A7D5-40B4-9F1B16C50E98}"/>
              </a:ext>
            </a:extLst>
          </p:cNvPr>
          <p:cNvSpPr txBox="1"/>
          <p:nvPr/>
        </p:nvSpPr>
        <p:spPr>
          <a:xfrm>
            <a:off x="10112631" y="660144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860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7E42CD-61B3-6053-1B16-AA7CAE09B37D}"/>
              </a:ext>
            </a:extLst>
          </p:cNvPr>
          <p:cNvSpPr txBox="1"/>
          <p:nvPr/>
        </p:nvSpPr>
        <p:spPr>
          <a:xfrm>
            <a:off x="11093500" y="660145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B99D51-13FC-1A0B-7B6B-8E30E076DC91}"/>
                  </a:ext>
                </a:extLst>
              </p:cNvPr>
              <p:cNvSpPr txBox="1"/>
              <p:nvPr/>
            </p:nvSpPr>
            <p:spPr>
              <a:xfrm>
                <a:off x="9525879" y="474514"/>
                <a:ext cx="77271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cm</m:t>
                          </m:r>
                        </m:e>
                        <m: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B99D51-13FC-1A0B-7B6B-8E30E076D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879" y="474514"/>
                <a:ext cx="772712" cy="215444"/>
              </a:xfrm>
              <a:prstGeom prst="rect">
                <a:avLst/>
              </a:prstGeom>
              <a:blipFill>
                <a:blip r:embed="rId5"/>
                <a:stretch>
                  <a:fillRect l="-3279" t="-11111" r="-819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0D335E-9849-34EA-8EDD-33C0D34D899E}"/>
              </a:ext>
            </a:extLst>
          </p:cNvPr>
          <p:cNvSpPr txBox="1"/>
          <p:nvPr/>
        </p:nvSpPr>
        <p:spPr>
          <a:xfrm>
            <a:off x="9525879" y="5661212"/>
            <a:ext cx="186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Boundary cut~0.35um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3DF56F-A966-6DFB-0C34-7826417C9968}"/>
              </a:ext>
            </a:extLst>
          </p:cNvPr>
          <p:cNvCxnSpPr>
            <a:cxnSpLocks/>
          </p:cNvCxnSpPr>
          <p:nvPr/>
        </p:nvCxnSpPr>
        <p:spPr>
          <a:xfrm>
            <a:off x="8861612" y="363071"/>
            <a:ext cx="0" cy="58526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1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4DCE-AE70-8E52-3521-C82F66A4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66448"/>
            <a:ext cx="10515600" cy="614589"/>
          </a:xfrm>
        </p:spPr>
        <p:txBody>
          <a:bodyPr>
            <a:normAutofit fontScale="90000"/>
          </a:bodyPr>
          <a:lstStyle/>
          <a:p>
            <a:r>
              <a:rPr lang="en-US" dirty="0"/>
              <a:t>Hankel fit and 1/</a:t>
            </a:r>
            <a:r>
              <a:rPr lang="en-US" dirty="0" err="1"/>
              <a:t>sqrtx</a:t>
            </a:r>
            <a:r>
              <a:rPr lang="en-US" dirty="0"/>
              <a:t> fit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5759AD-680F-494E-C867-5C52D7F44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5168" y="765685"/>
            <a:ext cx="7541664" cy="532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9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5D93-4E52-36E2-2673-55D79C077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63200" cy="538389"/>
          </a:xfrm>
        </p:spPr>
        <p:txBody>
          <a:bodyPr>
            <a:normAutofit fontScale="90000"/>
          </a:bodyPr>
          <a:lstStyle/>
          <a:p>
            <a:r>
              <a:rPr lang="en-US" dirty="0"/>
              <a:t>FFT verification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838791-19BE-DE72-A125-D628A0513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167" y="737280"/>
            <a:ext cx="11737665" cy="5383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A70477-4B3F-BD9E-2650-5EBF8F24D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5" y="-4762"/>
            <a:ext cx="29241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14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130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GMG </vt:lpstr>
      <vt:lpstr>Overview</vt:lpstr>
      <vt:lpstr>Fitting logic</vt:lpstr>
      <vt:lpstr>860cm-1: GMG3_graphene3x1</vt:lpstr>
      <vt:lpstr>Hankel fit and 1/sqrtx fit</vt:lpstr>
      <vt:lpstr>FFT verification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 ZHE ZHOU</dc:creator>
  <cp:lastModifiedBy>SHI ZHE ZHOU</cp:lastModifiedBy>
  <cp:revision>12</cp:revision>
  <dcterms:created xsi:type="dcterms:W3CDTF">2026-06-16T15:36:59Z</dcterms:created>
  <dcterms:modified xsi:type="dcterms:W3CDTF">2026-06-16T21:00:33Z</dcterms:modified>
</cp:coreProperties>
</file>