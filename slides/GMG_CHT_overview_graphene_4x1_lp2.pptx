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822960"/>
            <a:ext cx="3840480" cy="3840480"/>
          </a:xfrm>
          <a:prstGeom prst="ellipse">
            <a:avLst/>
          </a:prstGeom>
          <a:solidFill>
            <a:srgbClr val="1C729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6035040"/>
            <a:ext cx="3291840" cy="3291840"/>
          </a:xfrm>
          <a:prstGeom prst="ellipse">
            <a:avLst/>
          </a:prstGeom>
          <a:solidFill>
            <a:srgbClr val="1C729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GMG Graphene Plasmon 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CHT vs. Real-Space (Hankel / 1/√x) vs. FFT — overview across 15 wavenumbers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860–1000 cm⁻¹  ·  nano-FTIR amplitude line profiles  ·  graphene_4x1_manual dataset (lp2, right edge — manually-extracted+aligned linecuts from processed_4x1um/860-1000_AVG.npz)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1000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224.3 nm    Hankel λₚ = 240.0 nm    1/√x λₚ = 207.7 nm        Δ vs Hankel = 6.5%    Δ vs 1/√x = 8.0%</a:t>
            </a:r>
          </a:p>
        </p:txBody>
      </p:sp>
      <p:pic>
        <p:nvPicPr>
          <p:cNvPr id="4" name="Picture 3" descr="100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100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100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991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255.9 nm    Hankel λₚ = 273.0 nm    1/√x λₚ = 308.1 nm        Δ vs Hankel = 6.3%    Δ vs 1/√x = 16.9%</a:t>
            </a:r>
          </a:p>
        </p:txBody>
      </p:sp>
      <p:pic>
        <p:nvPicPr>
          <p:cNvPr id="4" name="Picture 3" descr="991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91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54" y="4663912"/>
            <a:ext cx="2289953" cy="1783080"/>
          </a:xfrm>
          <a:prstGeom prst="rect">
            <a:avLst/>
          </a:prstGeom>
        </p:spPr>
      </p:pic>
      <p:pic>
        <p:nvPicPr>
          <p:cNvPr id="6" name="Picture 5" descr="991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487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980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275.4 nm    Hankel λₚ = 480.0 nm    1/√x λₚ = 416.1 nm        Δ vs Hankel = 42.6%    Δ vs 1/√x = 33.8%</a:t>
            </a:r>
          </a:p>
        </p:txBody>
      </p:sp>
      <p:pic>
        <p:nvPicPr>
          <p:cNvPr id="4" name="Picture 3" descr="98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8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66" y="4663912"/>
            <a:ext cx="2353928" cy="1783080"/>
          </a:xfrm>
          <a:prstGeom prst="rect">
            <a:avLst/>
          </a:prstGeom>
        </p:spPr>
      </p:pic>
      <p:pic>
        <p:nvPicPr>
          <p:cNvPr id="6" name="Picture 5" descr="98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474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970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264.7 nm    Hankel λₚ = 480.0 nm    1/√x λₚ = 412.2 nm        Δ vs Hankel = 44.9%    Δ vs 1/√x = 35.8%</a:t>
            </a:r>
          </a:p>
        </p:txBody>
      </p:sp>
      <p:pic>
        <p:nvPicPr>
          <p:cNvPr id="4" name="Picture 3" descr="97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7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97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960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263.2 nm    Hankel λₚ = 480.0 nm    1/√x λₚ = 431.7 nm        Δ vs Hankel = 45.2%    Δ vs 1/√x = 39.0%</a:t>
            </a:r>
          </a:p>
        </p:txBody>
      </p:sp>
      <p:pic>
        <p:nvPicPr>
          <p:cNvPr id="4" name="Picture 3" descr="96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6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96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950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295.1 nm    Hankel λₚ = 336.0 nm    1/√x λₚ = 298.3 nm        Δ vs Hankel = 12.2%    Δ vs 1/√x = 1.1%</a:t>
            </a:r>
          </a:p>
        </p:txBody>
      </p:sp>
      <p:pic>
        <p:nvPicPr>
          <p:cNvPr id="4" name="Picture 3" descr="95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5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95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941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361.3 nm    Hankel λₚ = 480.0 nm    1/√x λₚ = 428.0 nm        Δ vs Hankel = 24.7%    Δ vs 1/√x = 15.6%</a:t>
            </a:r>
          </a:p>
        </p:txBody>
      </p:sp>
      <p:pic>
        <p:nvPicPr>
          <p:cNvPr id="4" name="Picture 3" descr="941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41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941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930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405.0 nm    Hankel λₚ = 423.8 nm    1/√x λₚ = 525.5 nm        Δ vs Hankel = 4.4%    Δ vs 1/√x = 22.9%</a:t>
            </a:r>
          </a:p>
        </p:txBody>
      </p:sp>
      <p:pic>
        <p:nvPicPr>
          <p:cNvPr id="4" name="Picture 3" descr="93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3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93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920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455.2 nm    Hankel λₚ = 427.2 nm    1/√x λₚ = 484.0 nm        Δ vs Hankel = 6.5%    Δ vs 1/√x = 6.0%</a:t>
            </a:r>
          </a:p>
        </p:txBody>
      </p:sp>
      <p:pic>
        <p:nvPicPr>
          <p:cNvPr id="4" name="Picture 3" descr="92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2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66" y="4663912"/>
            <a:ext cx="2353928" cy="1783080"/>
          </a:xfrm>
          <a:prstGeom prst="rect">
            <a:avLst/>
          </a:prstGeom>
        </p:spPr>
      </p:pic>
      <p:pic>
        <p:nvPicPr>
          <p:cNvPr id="6" name="Picture 5" descr="92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474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911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329.9 nm    Hankel λₚ = 634.8 nm    1/√x λₚ = 620.9 nm        Δ vs Hankel = 48.0%    Δ vs 1/√x = 46.9%</a:t>
            </a:r>
          </a:p>
        </p:txBody>
      </p:sp>
      <p:pic>
        <p:nvPicPr>
          <p:cNvPr id="4" name="Picture 3" descr="911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11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911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900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439.8 nm    Hankel λₚ = 681.4 nm    1/√x λₚ = 662.7 nm        Δ vs Hankel = 35.5%    Δ vs 1/√x = 33.6%</a:t>
            </a:r>
          </a:p>
        </p:txBody>
      </p:sp>
      <p:pic>
        <p:nvPicPr>
          <p:cNvPr id="4" name="Picture 3" descr="90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90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90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890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489.8 nm    Hankel λₚ = 535.6 nm    1/√x λₚ = 531.3 nm        Δ vs Hankel = 8.6%    Δ vs 1/√x = 7.8%</a:t>
            </a:r>
          </a:p>
        </p:txBody>
      </p:sp>
      <p:pic>
        <p:nvPicPr>
          <p:cNvPr id="4" name="Picture 3" descr="89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89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89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880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629.4 nm    Hankel λₚ = 687.2 nm    1/√x λₚ = 653.6 nm        Δ vs Hankel = 8.4%    Δ vs 1/√x = 3.7%</a:t>
            </a:r>
          </a:p>
        </p:txBody>
      </p:sp>
      <p:pic>
        <p:nvPicPr>
          <p:cNvPr id="4" name="Picture 3" descr="88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88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88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870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635.4 nm    Hankel λₚ = 701.4 nm    1/√x λₚ = 699.2 nm        Δ vs Hankel = 9.4%    Δ vs 1/√x = 9.1%</a:t>
            </a:r>
          </a:p>
        </p:txBody>
      </p:sp>
      <p:pic>
        <p:nvPicPr>
          <p:cNvPr id="4" name="Picture 3" descr="87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87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87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860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CHT λₚ = 660.2 nm    Hankel λₚ = 618.4 nm    1/√x λₚ = 622.4 nm        Δ vs Hankel = 6.8%    Δ vs 1/√x = 6.1%</a:t>
            </a:r>
          </a:p>
        </p:txBody>
      </p:sp>
      <p:pic>
        <p:nvPicPr>
          <p:cNvPr id="4" name="Picture 3" descr="860cm-1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11277295" cy="3347176"/>
          </a:xfrm>
          <a:prstGeom prst="rect">
            <a:avLst/>
          </a:prstGeom>
        </p:spPr>
      </p:pic>
      <p:pic>
        <p:nvPicPr>
          <p:cNvPr id="5" name="Picture 4" descr="860cm-1_rea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10" y="4663912"/>
            <a:ext cx="2326041" cy="1783080"/>
          </a:xfrm>
          <a:prstGeom prst="rect">
            <a:avLst/>
          </a:prstGeom>
        </p:spPr>
      </p:pic>
      <p:pic>
        <p:nvPicPr>
          <p:cNvPr id="6" name="Picture 5" descr="860cm-1_f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531" y="4663912"/>
            <a:ext cx="719755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Summary: λₚ Across All Wavenumbers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78992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554480"/>
                <a:gridCol w="1463040"/>
                <a:gridCol w="18288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wn (cm⁻¹)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λ CHT (nm)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λ Hankel (nm)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λ 1/√x (nm)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k_fit_range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Δ vs Hankel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Δ vs 1/√x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1000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224.3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240.0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207.7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(1.0, 10.0)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6.5%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8.0%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255.9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273.0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308.1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(0.2, 9.0)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16.9%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980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275.4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480.0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416.1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(0.2, 9.0)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42.6%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33.8%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264.7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480.0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412.2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(0.2, 9.0)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960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263.2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480.0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431.7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(0.2, 7.0)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45.2%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39.0%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295.1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336.0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298.3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(0.2, 8.0)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12.2%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941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361.3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480.0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428.0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(0.2, 7.0)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24.7%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15.6%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405.0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423.8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525.5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(0.2, 7.0)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22.9%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920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455.2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427.2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484.0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(0.2, 7.0)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6.5%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6.0%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329.9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634.8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620.9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(0.4, 7.0)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46.9%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900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439.8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681.4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662.7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(0.2, 6.0)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35.5%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33.6%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489.8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535.6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531.3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(0.2, 6.0)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880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629.4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687.2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653.6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(0.2, 5.0)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8.4%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3.7%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870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635.4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701.4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699.2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(0.2, 5.0)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860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660.2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618.4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622.4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(0.1, 6.0)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6.8%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</a:rPr>
                        <a:t>6.1%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